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42"/>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Lst>
  <p:sldSz cx="18288000" cy="10287000"/>
  <p:notesSz cx="6858000" cy="9144000"/>
  <p:embeddedFontLst>
    <p:embeddedFont>
      <p:font typeface="Special Elite" charset="1" panose="02000506000000020004"/>
      <p:regular r:id="rId39"/>
    </p:embeddedFont>
    <p:embeddedFont>
      <p:font typeface="Alice Bold" charset="1" panose="00000500000000000000"/>
      <p:regular r:id="rId40"/>
    </p:embeddedFont>
    <p:embeddedFont>
      <p:font typeface="Alice" charset="1" panose="00000500000000000000"/>
      <p:regular r:id="rId41"/>
    </p:embeddedFont>
    <p:embeddedFont>
      <p:font typeface="Canva Sans" charset="1" panose="020B0503030501040103"/>
      <p:regular r:id="rId4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fonts/font41.fntdata" Type="http://schemas.openxmlformats.org/officeDocument/2006/relationships/font"/><Relationship Id="rId42" Target="notesMasters/notesMaster1.xml" Type="http://schemas.openxmlformats.org/officeDocument/2006/relationships/notesMaster"/><Relationship Id="rId43" Target="theme/theme2.xml" Type="http://schemas.openxmlformats.org/officeDocument/2006/relationships/theme"/><Relationship Id="rId44" Target="notesSlides/notesSlide1.xml" Type="http://schemas.openxmlformats.org/officeDocument/2006/relationships/notesSlide"/><Relationship Id="rId45" Target="notesSlides/notesSlide2.xml" Type="http://schemas.openxmlformats.org/officeDocument/2006/relationships/notesSlide"/><Relationship Id="rId46" Target="fonts/font46.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9.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0.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By combining the previous charts on arrest category, age group, and gender we are able to reinforce previous observations while also focusing on a specific demographic. </a:t>
            </a:r>
          </a:p>
          <a:p>
            <a:r>
              <a:rPr lang="en-US"/>
              <a:t/>
            </a:r>
          </a:p>
          <a:p>
            <a:r>
              <a:rPr lang="en-US"/>
              <a:t>This being that Men within the ages of 25-44 are most likely to commit crimes, especially if it's considered violent or property crimes within NYC. </a:t>
            </a:r>
          </a:p>
          <a:p>
            <a:r>
              <a:rPr lang="en-US"/>
              <a:t/>
            </a:r>
          </a:p>
          <a:p>
            <a:r>
              <a:rPr lang="en-US"/>
              <a:t>Through this we are able to solidify our recommendations that could help decrease such occurrences.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Most arrests occurred in Brooklyn and Manhattan.</a:t>
            </a:r>
          </a:p>
          <a:p>
            <a:r>
              <a:rPr lang="en-US"/>
              <a:t/>
            </a:r>
          </a:p>
          <a:p>
            <a:r>
              <a:rPr lang="en-US"/>
              <a:t>The majority of crimes were committed by men.</a:t>
            </a:r>
          </a:p>
          <a:p>
            <a:r>
              <a:rPr lang="en-US"/>
              <a:t/>
            </a:r>
          </a:p>
          <a:p>
            <a:r>
              <a:rPr lang="en-US"/>
              <a:t>Individuals between the ages of 25 and 44 were arrested the most.</a:t>
            </a:r>
          </a:p>
          <a:p>
            <a:r>
              <a:rPr lang="en-US"/>
              <a:t/>
            </a:r>
          </a:p>
          <a:p>
            <a:r>
              <a:rPr lang="en-US"/>
              <a:t>Arrests peaked in October and were the lowest in april.</a:t>
            </a:r>
          </a:p>
          <a:p>
            <a:r>
              <a:rPr lang="en-US"/>
              <a:t/>
            </a:r>
          </a:p>
          <a:p>
            <a:r>
              <a:rPr lang="en-US"/>
              <a:t>the steady rise in arrests after april wAS similar to the risE IN COVID-19 CASES after restrictions were lifted.</a:t>
            </a:r>
          </a:p>
          <a:p>
            <a:r>
              <a:rPr lang="en-US"/>
              <a:t/>
            </a:r>
          </a:p>
          <a:p>
            <a:r>
              <a:rPr lang="en-US"/>
              <a:t>Environmental Influeces: COVID 19 and Restrictions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8.jpeg" Type="http://schemas.openxmlformats.org/officeDocument/2006/relationships/image"/><Relationship Id="rId5" Target="../media/image9.jpe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https://data.cityofnewyork.us/Public-Safety/NYPD-Arrest-Data-Year-to-Date-/uip8-fykc/about_data" TargetMode="External" Type="http://schemas.openxmlformats.org/officeDocument/2006/relationships/hyperlink"/></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2.png" Type="http://schemas.openxmlformats.org/officeDocument/2006/relationships/image"/><Relationship Id="rId5" Target="../media/image13.svg" Type="http://schemas.openxmlformats.org/officeDocument/2006/relationships/image"/><Relationship Id="rId6" Target="../media/image14.png" Type="http://schemas.openxmlformats.org/officeDocument/2006/relationships/image"/><Relationship Id="rId7" Target="../media/image15.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6.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7.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19.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20.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1.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2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6.png" Type="http://schemas.openxmlformats.org/officeDocument/2006/relationships/image"/><Relationship Id="rId4" Target="../media/image7.sv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4.png" Type="http://schemas.openxmlformats.org/officeDocument/2006/relationships/image"/><Relationship Id="rId5" Target="../media/image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https://data.cityofnewyork.us/Public-Safety/NYPD-Arrest-Data-Year-to-Date-/uip8-fykc/about_data" TargetMode="External" Type="http://schemas.openxmlformats.org/officeDocument/2006/relationships/hyperlink"/><Relationship Id="rId5" Target="https://data.cityofnewyork.us/Public-Safety/NYPD-Arrest-Data-Year-to-Date-/uip8-fykc/about_data" TargetMode="External" Type="http://schemas.openxmlformats.org/officeDocument/2006/relationships/hyperlink"/><Relationship Id="rId6" Target="https://catalog.data.gov/dataset/covid-19-case-surveillance-public-use-data-with-geography-0605b" TargetMode="External" Type="http://schemas.openxmlformats.org/officeDocument/2006/relationships/hyperlink"/><Relationship Id="rId7" Target="https://docs.google.com/document/d/1fL4kt8nghsStS8vJGy-0oY4_jUzhZOG4DNJbAGIOMg0/edit?usp=sharing" TargetMode="External" Type="http://schemas.openxmlformats.org/officeDocument/2006/relationships/hyperlink"/></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png" Type="http://schemas.openxmlformats.org/officeDocument/2006/relationships/image"/><Relationship Id="rId3" Target="../media/image7.svg" Type="http://schemas.openxmlformats.org/officeDocument/2006/relationships/image"/><Relationship Id="rId4" Target="../media/image5.png" Type="http://schemas.openxmlformats.org/officeDocument/2006/relationships/image"/><Relationship Id="rId5" Target="../media/image23.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E8E3DB"/>
        </a:solidFill>
      </p:bgPr>
    </p:bg>
    <p:spTree>
      <p:nvGrpSpPr>
        <p:cNvPr id="1" name=""/>
        <p:cNvGrpSpPr/>
        <p:nvPr/>
      </p:nvGrpSpPr>
      <p:grpSpPr>
        <a:xfrm>
          <a:off x="0" y="0"/>
          <a:ext cx="0" cy="0"/>
          <a:chOff x="0" y="0"/>
          <a:chExt cx="0" cy="0"/>
        </a:xfrm>
      </p:grpSpPr>
      <p:sp>
        <p:nvSpPr>
          <p:cNvPr name="Freeform 2" id="2"/>
          <p:cNvSpPr/>
          <p:nvPr/>
        </p:nvSpPr>
        <p:spPr>
          <a:xfrm flipH="false" flipV="false" rot="-5400000">
            <a:off x="1481407" y="-3288930"/>
            <a:ext cx="15325187" cy="18575984"/>
          </a:xfrm>
          <a:custGeom>
            <a:avLst/>
            <a:gdLst/>
            <a:ahLst/>
            <a:cxnLst/>
            <a:rect r="r" b="b" t="t" l="l"/>
            <a:pathLst>
              <a:path h="18575984" w="15325187">
                <a:moveTo>
                  <a:pt x="0" y="0"/>
                </a:moveTo>
                <a:lnTo>
                  <a:pt x="15325186" y="0"/>
                </a:lnTo>
                <a:lnTo>
                  <a:pt x="15325186" y="18575984"/>
                </a:lnTo>
                <a:lnTo>
                  <a:pt x="0" y="18575984"/>
                </a:lnTo>
                <a:lnTo>
                  <a:pt x="0" y="0"/>
                </a:lnTo>
                <a:close/>
              </a:path>
            </a:pathLst>
          </a:custGeom>
          <a:blipFill>
            <a:blip r:embed="rId2">
              <a:alphaModFix amt="54000"/>
            </a:blip>
            <a:stretch>
              <a:fillRect l="0" t="0" r="0" b="0"/>
            </a:stretch>
          </a:blipFill>
        </p:spPr>
      </p:sp>
      <p:sp>
        <p:nvSpPr>
          <p:cNvPr name="Freeform 3" id="3"/>
          <p:cNvSpPr/>
          <p:nvPr/>
        </p:nvSpPr>
        <p:spPr>
          <a:xfrm flipH="false" flipV="false" rot="0">
            <a:off x="4342054" y="2835517"/>
            <a:ext cx="14204988" cy="8221137"/>
          </a:xfrm>
          <a:custGeom>
            <a:avLst/>
            <a:gdLst/>
            <a:ahLst/>
            <a:cxnLst/>
            <a:rect r="r" b="b" t="t" l="l"/>
            <a:pathLst>
              <a:path h="8221137" w="14204988">
                <a:moveTo>
                  <a:pt x="0" y="0"/>
                </a:moveTo>
                <a:lnTo>
                  <a:pt x="14204988" y="0"/>
                </a:lnTo>
                <a:lnTo>
                  <a:pt x="14204988" y="8221137"/>
                </a:lnTo>
                <a:lnTo>
                  <a:pt x="0" y="8221137"/>
                </a:lnTo>
                <a:lnTo>
                  <a:pt x="0" y="0"/>
                </a:lnTo>
                <a:close/>
              </a:path>
            </a:pathLst>
          </a:custGeom>
          <a:blipFill>
            <a:blip r:embed="rId3"/>
            <a:stretch>
              <a:fillRect l="0" t="0" r="0" b="0"/>
            </a:stretch>
          </a:blipFill>
        </p:spPr>
      </p:sp>
      <p:sp>
        <p:nvSpPr>
          <p:cNvPr name="Freeform 4" id="4"/>
          <p:cNvSpPr/>
          <p:nvPr/>
        </p:nvSpPr>
        <p:spPr>
          <a:xfrm flipH="false" flipV="false" rot="0">
            <a:off x="-3939012" y="-2543405"/>
            <a:ext cx="20479010" cy="11511078"/>
          </a:xfrm>
          <a:custGeom>
            <a:avLst/>
            <a:gdLst/>
            <a:ahLst/>
            <a:cxnLst/>
            <a:rect r="r" b="b" t="t" l="l"/>
            <a:pathLst>
              <a:path h="11511078" w="20479010">
                <a:moveTo>
                  <a:pt x="0" y="0"/>
                </a:moveTo>
                <a:lnTo>
                  <a:pt x="20479010" y="0"/>
                </a:lnTo>
                <a:lnTo>
                  <a:pt x="20479010" y="11511078"/>
                </a:lnTo>
                <a:lnTo>
                  <a:pt x="0" y="11511078"/>
                </a:lnTo>
                <a:lnTo>
                  <a:pt x="0" y="0"/>
                </a:lnTo>
                <a:close/>
              </a:path>
            </a:pathLst>
          </a:custGeom>
          <a:blipFill>
            <a:blip r:embed="rId4"/>
            <a:stretch>
              <a:fillRect l="0" t="0" r="0" b="0"/>
            </a:stretch>
          </a:blipFill>
        </p:spPr>
      </p:sp>
      <p:sp>
        <p:nvSpPr>
          <p:cNvPr name="TextBox 5" id="5"/>
          <p:cNvSpPr txBox="true"/>
          <p:nvPr/>
        </p:nvSpPr>
        <p:spPr>
          <a:xfrm rot="0">
            <a:off x="1028700" y="1200150"/>
            <a:ext cx="15531918" cy="3442184"/>
          </a:xfrm>
          <a:prstGeom prst="rect">
            <a:avLst/>
          </a:prstGeom>
        </p:spPr>
        <p:txBody>
          <a:bodyPr anchor="t" rtlCol="false" tIns="0" lIns="0" bIns="0" rIns="0">
            <a:spAutoFit/>
          </a:bodyPr>
          <a:lstStyle/>
          <a:p>
            <a:pPr algn="l">
              <a:lnSpc>
                <a:spcPts val="13325"/>
              </a:lnSpc>
            </a:pPr>
            <a:r>
              <a:rPr lang="en-US" sz="12690">
                <a:solidFill>
                  <a:srgbClr val="333333"/>
                </a:solidFill>
                <a:latin typeface="Special Elite"/>
                <a:ea typeface="Special Elite"/>
                <a:cs typeface="Special Elite"/>
                <a:sym typeface="Special Elite"/>
              </a:rPr>
              <a:t>COOP PRESENTS: NYC ARRESTS</a:t>
            </a:r>
          </a:p>
        </p:txBody>
      </p:sp>
      <p:sp>
        <p:nvSpPr>
          <p:cNvPr name="Freeform 6" id="6"/>
          <p:cNvSpPr/>
          <p:nvPr/>
        </p:nvSpPr>
        <p:spPr>
          <a:xfrm flipH="false" flipV="false" rot="0">
            <a:off x="4342054" y="2987917"/>
            <a:ext cx="14204988" cy="3803414"/>
          </a:xfrm>
          <a:custGeom>
            <a:avLst/>
            <a:gdLst/>
            <a:ahLst/>
            <a:cxnLst/>
            <a:rect r="r" b="b" t="t" l="l"/>
            <a:pathLst>
              <a:path h="3803414" w="14204988">
                <a:moveTo>
                  <a:pt x="0" y="0"/>
                </a:moveTo>
                <a:lnTo>
                  <a:pt x="14204988" y="0"/>
                </a:lnTo>
                <a:lnTo>
                  <a:pt x="14204988" y="3803414"/>
                </a:lnTo>
                <a:lnTo>
                  <a:pt x="0" y="3803414"/>
                </a:lnTo>
                <a:lnTo>
                  <a:pt x="0" y="0"/>
                </a:lnTo>
                <a:close/>
              </a:path>
            </a:pathLst>
          </a:custGeom>
          <a:blipFill>
            <a:blip r:embed="rId3">
              <a:alphaModFix amt="68000"/>
            </a:blip>
            <a:stretch>
              <a:fillRect l="0" t="0" r="0" b="-116151"/>
            </a:stretch>
          </a:blipFill>
        </p:spPr>
      </p:sp>
      <p:sp>
        <p:nvSpPr>
          <p:cNvPr name="Freeform 7" id="7"/>
          <p:cNvSpPr/>
          <p:nvPr/>
        </p:nvSpPr>
        <p:spPr>
          <a:xfrm flipH="false" flipV="false" rot="0">
            <a:off x="1028700" y="4138131"/>
            <a:ext cx="1408458" cy="751493"/>
          </a:xfrm>
          <a:custGeom>
            <a:avLst/>
            <a:gdLst/>
            <a:ahLst/>
            <a:cxnLst/>
            <a:rect r="r" b="b" t="t" l="l"/>
            <a:pathLst>
              <a:path h="751493" w="1408458">
                <a:moveTo>
                  <a:pt x="0" y="0"/>
                </a:moveTo>
                <a:lnTo>
                  <a:pt x="1408458" y="0"/>
                </a:lnTo>
                <a:lnTo>
                  <a:pt x="1408458" y="751493"/>
                </a:lnTo>
                <a:lnTo>
                  <a:pt x="0" y="751493"/>
                </a:lnTo>
                <a:lnTo>
                  <a:pt x="0" y="0"/>
                </a:lnTo>
                <a:close/>
              </a:path>
            </a:pathLst>
          </a:custGeom>
          <a:blipFill>
            <a:blip r:embed="rId5"/>
            <a:stretch>
              <a:fillRect l="0" t="-41758" r="0" b="-45663"/>
            </a:stretch>
          </a:blipFill>
        </p:spPr>
      </p:sp>
      <p:sp>
        <p:nvSpPr>
          <p:cNvPr name="Freeform 8" id="8"/>
          <p:cNvSpPr/>
          <p:nvPr/>
        </p:nvSpPr>
        <p:spPr>
          <a:xfrm flipH="false" flipV="false" rot="0">
            <a:off x="-187476" y="9525827"/>
            <a:ext cx="3062473" cy="836741"/>
          </a:xfrm>
          <a:custGeom>
            <a:avLst/>
            <a:gdLst/>
            <a:ahLst/>
            <a:cxnLst/>
            <a:rect r="r" b="b" t="t" l="l"/>
            <a:pathLst>
              <a:path h="836741" w="3062473">
                <a:moveTo>
                  <a:pt x="0" y="0"/>
                </a:moveTo>
                <a:lnTo>
                  <a:pt x="3062473" y="0"/>
                </a:lnTo>
                <a:lnTo>
                  <a:pt x="3062473" y="836741"/>
                </a:lnTo>
                <a:lnTo>
                  <a:pt x="0" y="836741"/>
                </a:lnTo>
                <a:lnTo>
                  <a:pt x="0" y="0"/>
                </a:lnTo>
                <a:close/>
              </a:path>
            </a:pathLst>
          </a:custGeom>
          <a:blipFill>
            <a:blip r:embed="rId6"/>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791453" y="2106070"/>
            <a:ext cx="16705094" cy="1007910"/>
            <a:chOff x="0" y="0"/>
            <a:chExt cx="4399696" cy="265458"/>
          </a:xfrm>
        </p:grpSpPr>
        <p:sp>
          <p:nvSpPr>
            <p:cNvPr name="Freeform 6" id="6"/>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7" id="7"/>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INTRODUCTION</a:t>
              </a:r>
            </a:p>
          </p:txBody>
        </p:sp>
      </p:grpSp>
      <p:sp>
        <p:nvSpPr>
          <p:cNvPr name="TextBox 8" id="8"/>
          <p:cNvSpPr txBox="true"/>
          <p:nvPr/>
        </p:nvSpPr>
        <p:spPr>
          <a:xfrm rot="0">
            <a:off x="2097256" y="575103"/>
            <a:ext cx="14093488" cy="1756238"/>
          </a:xfrm>
          <a:prstGeom prst="rect">
            <a:avLst/>
          </a:prstGeom>
        </p:spPr>
        <p:txBody>
          <a:bodyPr anchor="t" rtlCol="false" tIns="0" lIns="0" bIns="0" rIns="0">
            <a:spAutoFit/>
          </a:bodyPr>
          <a:lstStyle/>
          <a:p>
            <a:pPr algn="ctr">
              <a:lnSpc>
                <a:spcPts val="13325"/>
              </a:lnSpc>
            </a:pPr>
            <a:r>
              <a:rPr lang="en-US" sz="12690">
                <a:solidFill>
                  <a:srgbClr val="333333"/>
                </a:solidFill>
                <a:latin typeface="Special Elite"/>
                <a:ea typeface="Special Elite"/>
                <a:cs typeface="Special Elite"/>
                <a:sym typeface="Special Elite"/>
              </a:rPr>
              <a:t>AGENDA</a:t>
            </a:r>
          </a:p>
        </p:txBody>
      </p:sp>
      <p:grpSp>
        <p:nvGrpSpPr>
          <p:cNvPr name="Group 9" id="9"/>
          <p:cNvGrpSpPr/>
          <p:nvPr/>
        </p:nvGrpSpPr>
        <p:grpSpPr>
          <a:xfrm rot="0">
            <a:off x="791453" y="4872559"/>
            <a:ext cx="16705094" cy="1007910"/>
            <a:chOff x="0" y="0"/>
            <a:chExt cx="4399696" cy="265458"/>
          </a:xfrm>
        </p:grpSpPr>
        <p:sp>
          <p:nvSpPr>
            <p:cNvPr name="Freeform 10" id="10"/>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11" id="11"/>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CONTEXT</a:t>
              </a:r>
            </a:p>
          </p:txBody>
        </p:sp>
      </p:grpSp>
      <p:grpSp>
        <p:nvGrpSpPr>
          <p:cNvPr name="Group 12" id="12"/>
          <p:cNvGrpSpPr/>
          <p:nvPr/>
        </p:nvGrpSpPr>
        <p:grpSpPr>
          <a:xfrm rot="0">
            <a:off x="791453" y="6255803"/>
            <a:ext cx="16705094" cy="1007910"/>
            <a:chOff x="0" y="0"/>
            <a:chExt cx="4399696" cy="265458"/>
          </a:xfrm>
        </p:grpSpPr>
        <p:sp>
          <p:nvSpPr>
            <p:cNvPr name="Freeform 13" id="13"/>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14" id="14"/>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METHODOLOGY</a:t>
              </a:r>
            </a:p>
          </p:txBody>
        </p:sp>
      </p:grpSp>
      <p:grpSp>
        <p:nvGrpSpPr>
          <p:cNvPr name="Group 15" id="15"/>
          <p:cNvGrpSpPr/>
          <p:nvPr/>
        </p:nvGrpSpPr>
        <p:grpSpPr>
          <a:xfrm rot="0">
            <a:off x="791453" y="7639047"/>
            <a:ext cx="16705094" cy="1007910"/>
            <a:chOff x="0" y="0"/>
            <a:chExt cx="4399696" cy="265458"/>
          </a:xfrm>
        </p:grpSpPr>
        <p:sp>
          <p:nvSpPr>
            <p:cNvPr name="Freeform 16" id="16"/>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17" id="17"/>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FINDINGS</a:t>
              </a:r>
            </a:p>
          </p:txBody>
        </p:sp>
      </p:grpSp>
      <p:grpSp>
        <p:nvGrpSpPr>
          <p:cNvPr name="Group 18" id="18"/>
          <p:cNvGrpSpPr/>
          <p:nvPr/>
        </p:nvGrpSpPr>
        <p:grpSpPr>
          <a:xfrm rot="0">
            <a:off x="791453" y="3489315"/>
            <a:ext cx="16705094" cy="1007910"/>
            <a:chOff x="0" y="0"/>
            <a:chExt cx="4399696" cy="265458"/>
          </a:xfrm>
        </p:grpSpPr>
        <p:sp>
          <p:nvSpPr>
            <p:cNvPr name="Freeform 19" id="19"/>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20" id="20"/>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EXECUTIVE SUMMARY</a:t>
              </a:r>
            </a:p>
          </p:txBody>
        </p:sp>
      </p:grpSp>
      <p:grpSp>
        <p:nvGrpSpPr>
          <p:cNvPr name="Group 21" id="21"/>
          <p:cNvGrpSpPr/>
          <p:nvPr/>
        </p:nvGrpSpPr>
        <p:grpSpPr>
          <a:xfrm rot="0">
            <a:off x="791453" y="9022292"/>
            <a:ext cx="16705094" cy="1007910"/>
            <a:chOff x="0" y="0"/>
            <a:chExt cx="4399696" cy="265458"/>
          </a:xfrm>
        </p:grpSpPr>
        <p:sp>
          <p:nvSpPr>
            <p:cNvPr name="Freeform 22" id="22"/>
            <p:cNvSpPr/>
            <p:nvPr/>
          </p:nvSpPr>
          <p:spPr>
            <a:xfrm flipH="false" flipV="false" rot="0">
              <a:off x="0" y="0"/>
              <a:ext cx="4399696" cy="265458"/>
            </a:xfrm>
            <a:custGeom>
              <a:avLst/>
              <a:gdLst/>
              <a:ahLst/>
              <a:cxnLst/>
              <a:rect r="r" b="b" t="t" l="l"/>
              <a:pathLst>
                <a:path h="265458" w="4399696">
                  <a:moveTo>
                    <a:pt x="0" y="0"/>
                  </a:moveTo>
                  <a:lnTo>
                    <a:pt x="4399696" y="0"/>
                  </a:lnTo>
                  <a:lnTo>
                    <a:pt x="4399696" y="265458"/>
                  </a:lnTo>
                  <a:lnTo>
                    <a:pt x="0" y="265458"/>
                  </a:lnTo>
                  <a:close/>
                </a:path>
              </a:pathLst>
            </a:custGeom>
            <a:solidFill>
              <a:srgbClr val="FFFFFF"/>
            </a:solidFill>
          </p:spPr>
        </p:sp>
        <p:sp>
          <p:nvSpPr>
            <p:cNvPr name="TextBox 23" id="23"/>
            <p:cNvSpPr txBox="true"/>
            <p:nvPr/>
          </p:nvSpPr>
          <p:spPr>
            <a:xfrm>
              <a:off x="0" y="-66675"/>
              <a:ext cx="4399696" cy="332133"/>
            </a:xfrm>
            <a:prstGeom prst="rect">
              <a:avLst/>
            </a:prstGeom>
          </p:spPr>
          <p:txBody>
            <a:bodyPr anchor="ctr" rtlCol="false" tIns="50800" lIns="50800" bIns="50800" rIns="50800"/>
            <a:lstStyle/>
            <a:p>
              <a:pPr algn="ctr">
                <a:lnSpc>
                  <a:spcPts val="4480"/>
                </a:lnSpc>
              </a:pPr>
              <a:r>
                <a:rPr lang="en-US" sz="3200">
                  <a:solidFill>
                    <a:srgbClr val="000000"/>
                  </a:solidFill>
                  <a:latin typeface="Special Elite"/>
                  <a:ea typeface="Special Elite"/>
                  <a:cs typeface="Special Elite"/>
                  <a:sym typeface="Special Elite"/>
                </a:rPr>
                <a:t>CONCLUSION</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89127"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658468" y="3446459"/>
            <a:ext cx="3394082" cy="3394082"/>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52463" y="0"/>
                  </a:moveTo>
                  <a:lnTo>
                    <a:pt x="760337" y="0"/>
                  </a:lnTo>
                  <a:cubicBezTo>
                    <a:pt x="774251" y="0"/>
                    <a:pt x="787595" y="5527"/>
                    <a:pt x="797434" y="15366"/>
                  </a:cubicBezTo>
                  <a:cubicBezTo>
                    <a:pt x="807273" y="25205"/>
                    <a:pt x="812800" y="38549"/>
                    <a:pt x="812800" y="52463"/>
                  </a:cubicBezTo>
                  <a:lnTo>
                    <a:pt x="812800" y="760337"/>
                  </a:lnTo>
                  <a:cubicBezTo>
                    <a:pt x="812800" y="774251"/>
                    <a:pt x="807273" y="787595"/>
                    <a:pt x="797434" y="797434"/>
                  </a:cubicBezTo>
                  <a:cubicBezTo>
                    <a:pt x="787595" y="807273"/>
                    <a:pt x="774251" y="812800"/>
                    <a:pt x="760337" y="812800"/>
                  </a:cubicBezTo>
                  <a:lnTo>
                    <a:pt x="52463" y="812800"/>
                  </a:lnTo>
                  <a:cubicBezTo>
                    <a:pt x="38549" y="812800"/>
                    <a:pt x="25205" y="807273"/>
                    <a:pt x="15366" y="797434"/>
                  </a:cubicBezTo>
                  <a:cubicBezTo>
                    <a:pt x="5527" y="787595"/>
                    <a:pt x="0" y="774251"/>
                    <a:pt x="0" y="760337"/>
                  </a:cubicBezTo>
                  <a:lnTo>
                    <a:pt x="0" y="52463"/>
                  </a:lnTo>
                  <a:cubicBezTo>
                    <a:pt x="0" y="38549"/>
                    <a:pt x="5527" y="25205"/>
                    <a:pt x="15366" y="15366"/>
                  </a:cubicBezTo>
                  <a:cubicBezTo>
                    <a:pt x="25205" y="5527"/>
                    <a:pt x="38549" y="0"/>
                    <a:pt x="52463" y="0"/>
                  </a:cubicBezTo>
                  <a:close/>
                </a:path>
              </a:pathLst>
            </a:custGeom>
            <a:blipFill>
              <a:blip r:embed="rId4"/>
              <a:stretch>
                <a:fillRect l="0" t="0" r="0" b="0"/>
              </a:stretch>
            </a:blipFill>
            <a:ln w="38100" cap="rnd">
              <a:solidFill>
                <a:srgbClr val="000000"/>
              </a:solidFill>
              <a:prstDash val="solid"/>
              <a:round/>
            </a:ln>
          </p:spPr>
        </p:sp>
      </p:grpSp>
      <p:grpSp>
        <p:nvGrpSpPr>
          <p:cNvPr name="Group 7" id="7"/>
          <p:cNvGrpSpPr/>
          <p:nvPr/>
        </p:nvGrpSpPr>
        <p:grpSpPr>
          <a:xfrm rot="0">
            <a:off x="5167820" y="3446459"/>
            <a:ext cx="3394082" cy="3394082"/>
            <a:chOff x="0" y="0"/>
            <a:chExt cx="812800" cy="812800"/>
          </a:xfrm>
        </p:grpSpPr>
        <p:sp>
          <p:nvSpPr>
            <p:cNvPr name="Freeform 8" id="8"/>
            <p:cNvSpPr/>
            <p:nvPr/>
          </p:nvSpPr>
          <p:spPr>
            <a:xfrm flipH="false" flipV="false" rot="0">
              <a:off x="0" y="0"/>
              <a:ext cx="812800" cy="812800"/>
            </a:xfrm>
            <a:custGeom>
              <a:avLst/>
              <a:gdLst/>
              <a:ahLst/>
              <a:cxnLst/>
              <a:rect r="r" b="b" t="t" l="l"/>
              <a:pathLst>
                <a:path h="812800" w="812800">
                  <a:moveTo>
                    <a:pt x="52463" y="0"/>
                  </a:moveTo>
                  <a:lnTo>
                    <a:pt x="760337" y="0"/>
                  </a:lnTo>
                  <a:cubicBezTo>
                    <a:pt x="774251" y="0"/>
                    <a:pt x="787595" y="5527"/>
                    <a:pt x="797434" y="15366"/>
                  </a:cubicBezTo>
                  <a:cubicBezTo>
                    <a:pt x="807273" y="25205"/>
                    <a:pt x="812800" y="38549"/>
                    <a:pt x="812800" y="52463"/>
                  </a:cubicBezTo>
                  <a:lnTo>
                    <a:pt x="812800" y="760337"/>
                  </a:lnTo>
                  <a:cubicBezTo>
                    <a:pt x="812800" y="774251"/>
                    <a:pt x="807273" y="787595"/>
                    <a:pt x="797434" y="797434"/>
                  </a:cubicBezTo>
                  <a:cubicBezTo>
                    <a:pt x="787595" y="807273"/>
                    <a:pt x="774251" y="812800"/>
                    <a:pt x="760337" y="812800"/>
                  </a:cubicBezTo>
                  <a:lnTo>
                    <a:pt x="52463" y="812800"/>
                  </a:lnTo>
                  <a:cubicBezTo>
                    <a:pt x="38549" y="812800"/>
                    <a:pt x="25205" y="807273"/>
                    <a:pt x="15366" y="797434"/>
                  </a:cubicBezTo>
                  <a:cubicBezTo>
                    <a:pt x="5527" y="787595"/>
                    <a:pt x="0" y="774251"/>
                    <a:pt x="0" y="760337"/>
                  </a:cubicBezTo>
                  <a:lnTo>
                    <a:pt x="0" y="52463"/>
                  </a:lnTo>
                  <a:cubicBezTo>
                    <a:pt x="0" y="38549"/>
                    <a:pt x="5527" y="25205"/>
                    <a:pt x="15366" y="15366"/>
                  </a:cubicBezTo>
                  <a:cubicBezTo>
                    <a:pt x="25205" y="5527"/>
                    <a:pt x="38549" y="0"/>
                    <a:pt x="52463" y="0"/>
                  </a:cubicBezTo>
                  <a:close/>
                </a:path>
              </a:pathLst>
            </a:custGeom>
            <a:blipFill>
              <a:blip r:embed="rId5"/>
              <a:stretch>
                <a:fillRect l="0" t="-16666" r="0" b="-16666"/>
              </a:stretch>
            </a:blipFill>
            <a:ln w="38100" cap="rnd">
              <a:solidFill>
                <a:srgbClr val="000000"/>
              </a:solidFill>
              <a:prstDash val="solid"/>
              <a:round/>
            </a:ln>
          </p:spPr>
        </p:sp>
      </p:grpSp>
      <p:grpSp>
        <p:nvGrpSpPr>
          <p:cNvPr name="Group 9" id="9"/>
          <p:cNvGrpSpPr/>
          <p:nvPr/>
        </p:nvGrpSpPr>
        <p:grpSpPr>
          <a:xfrm rot="0">
            <a:off x="9677173" y="3446459"/>
            <a:ext cx="3394082" cy="3394082"/>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52463" y="0"/>
                  </a:moveTo>
                  <a:lnTo>
                    <a:pt x="760337" y="0"/>
                  </a:lnTo>
                  <a:cubicBezTo>
                    <a:pt x="774251" y="0"/>
                    <a:pt x="787595" y="5527"/>
                    <a:pt x="797434" y="15366"/>
                  </a:cubicBezTo>
                  <a:cubicBezTo>
                    <a:pt x="807273" y="25205"/>
                    <a:pt x="812800" y="38549"/>
                    <a:pt x="812800" y="52463"/>
                  </a:cubicBezTo>
                  <a:lnTo>
                    <a:pt x="812800" y="760337"/>
                  </a:lnTo>
                  <a:cubicBezTo>
                    <a:pt x="812800" y="774251"/>
                    <a:pt x="807273" y="787595"/>
                    <a:pt x="797434" y="797434"/>
                  </a:cubicBezTo>
                  <a:cubicBezTo>
                    <a:pt x="787595" y="807273"/>
                    <a:pt x="774251" y="812800"/>
                    <a:pt x="760337" y="812800"/>
                  </a:cubicBezTo>
                  <a:lnTo>
                    <a:pt x="52463" y="812800"/>
                  </a:lnTo>
                  <a:cubicBezTo>
                    <a:pt x="38549" y="812800"/>
                    <a:pt x="25205" y="807273"/>
                    <a:pt x="15366" y="797434"/>
                  </a:cubicBezTo>
                  <a:cubicBezTo>
                    <a:pt x="5527" y="787595"/>
                    <a:pt x="0" y="774251"/>
                    <a:pt x="0" y="760337"/>
                  </a:cubicBezTo>
                  <a:lnTo>
                    <a:pt x="0" y="52463"/>
                  </a:lnTo>
                  <a:cubicBezTo>
                    <a:pt x="0" y="38549"/>
                    <a:pt x="5527" y="25205"/>
                    <a:pt x="15366" y="15366"/>
                  </a:cubicBezTo>
                  <a:cubicBezTo>
                    <a:pt x="25205" y="5527"/>
                    <a:pt x="38549" y="0"/>
                    <a:pt x="52463" y="0"/>
                  </a:cubicBezTo>
                  <a:close/>
                </a:path>
              </a:pathLst>
            </a:custGeom>
            <a:blipFill>
              <a:blip r:embed="rId6"/>
              <a:stretch>
                <a:fillRect l="0" t="0" r="0" b="0"/>
              </a:stretch>
            </a:blipFill>
            <a:ln w="38100" cap="rnd">
              <a:solidFill>
                <a:srgbClr val="000000"/>
              </a:solidFill>
              <a:prstDash val="solid"/>
              <a:round/>
            </a:ln>
          </p:spPr>
        </p:sp>
      </p:grpSp>
      <p:grpSp>
        <p:nvGrpSpPr>
          <p:cNvPr name="Group 11" id="11"/>
          <p:cNvGrpSpPr/>
          <p:nvPr/>
        </p:nvGrpSpPr>
        <p:grpSpPr>
          <a:xfrm rot="0">
            <a:off x="14235451" y="3446459"/>
            <a:ext cx="3394082" cy="339408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52463" y="0"/>
                  </a:moveTo>
                  <a:lnTo>
                    <a:pt x="760337" y="0"/>
                  </a:lnTo>
                  <a:cubicBezTo>
                    <a:pt x="774251" y="0"/>
                    <a:pt x="787595" y="5527"/>
                    <a:pt x="797434" y="15366"/>
                  </a:cubicBezTo>
                  <a:cubicBezTo>
                    <a:pt x="807273" y="25205"/>
                    <a:pt x="812800" y="38549"/>
                    <a:pt x="812800" y="52463"/>
                  </a:cubicBezTo>
                  <a:lnTo>
                    <a:pt x="812800" y="760337"/>
                  </a:lnTo>
                  <a:cubicBezTo>
                    <a:pt x="812800" y="774251"/>
                    <a:pt x="807273" y="787595"/>
                    <a:pt x="797434" y="797434"/>
                  </a:cubicBezTo>
                  <a:cubicBezTo>
                    <a:pt x="787595" y="807273"/>
                    <a:pt x="774251" y="812800"/>
                    <a:pt x="760337" y="812800"/>
                  </a:cubicBezTo>
                  <a:lnTo>
                    <a:pt x="52463" y="812800"/>
                  </a:lnTo>
                  <a:cubicBezTo>
                    <a:pt x="38549" y="812800"/>
                    <a:pt x="25205" y="807273"/>
                    <a:pt x="15366" y="797434"/>
                  </a:cubicBezTo>
                  <a:cubicBezTo>
                    <a:pt x="5527" y="787595"/>
                    <a:pt x="0" y="774251"/>
                    <a:pt x="0" y="760337"/>
                  </a:cubicBezTo>
                  <a:lnTo>
                    <a:pt x="0" y="52463"/>
                  </a:lnTo>
                  <a:cubicBezTo>
                    <a:pt x="0" y="38549"/>
                    <a:pt x="5527" y="25205"/>
                    <a:pt x="15366" y="15366"/>
                  </a:cubicBezTo>
                  <a:cubicBezTo>
                    <a:pt x="25205" y="5527"/>
                    <a:pt x="38549" y="0"/>
                    <a:pt x="52463" y="0"/>
                  </a:cubicBezTo>
                  <a:close/>
                </a:path>
              </a:pathLst>
            </a:custGeom>
            <a:blipFill>
              <a:blip r:embed="rId7"/>
              <a:stretch>
                <a:fillRect l="-32576" t="-29054" r="-28614" b="-32135"/>
              </a:stretch>
            </a:blipFill>
            <a:ln w="38100" cap="rnd">
              <a:solidFill>
                <a:srgbClr val="000000"/>
              </a:solidFill>
              <a:prstDash val="solid"/>
              <a:round/>
            </a:ln>
          </p:spPr>
        </p:sp>
      </p:grpSp>
      <p:sp>
        <p:nvSpPr>
          <p:cNvPr name="TextBox 13" id="13"/>
          <p:cNvSpPr txBox="true"/>
          <p:nvPr/>
        </p:nvSpPr>
        <p:spPr>
          <a:xfrm rot="0">
            <a:off x="1028700" y="374826"/>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MEET THE TEAM</a:t>
            </a:r>
          </a:p>
        </p:txBody>
      </p:sp>
      <p:sp>
        <p:nvSpPr>
          <p:cNvPr name="TextBox 14" id="14"/>
          <p:cNvSpPr txBox="true"/>
          <p:nvPr/>
        </p:nvSpPr>
        <p:spPr>
          <a:xfrm rot="0">
            <a:off x="9992121" y="6932000"/>
            <a:ext cx="2764185" cy="647943"/>
          </a:xfrm>
          <a:prstGeom prst="rect">
            <a:avLst/>
          </a:prstGeom>
        </p:spPr>
        <p:txBody>
          <a:bodyPr anchor="t" rtlCol="false" tIns="0" lIns="0" bIns="0" rIns="0">
            <a:spAutoFit/>
          </a:bodyPr>
          <a:lstStyle/>
          <a:p>
            <a:pPr algn="ctr">
              <a:lnSpc>
                <a:spcPts val="5236"/>
              </a:lnSpc>
            </a:pPr>
            <a:r>
              <a:rPr lang="en-US" sz="3740">
                <a:solidFill>
                  <a:srgbClr val="333333"/>
                </a:solidFill>
                <a:latin typeface="Alice Bold"/>
                <a:ea typeface="Alice Bold"/>
                <a:cs typeface="Alice Bold"/>
                <a:sym typeface="Alice Bold"/>
              </a:rPr>
              <a:t>Akif Rahman</a:t>
            </a:r>
          </a:p>
        </p:txBody>
      </p:sp>
      <p:sp>
        <p:nvSpPr>
          <p:cNvPr name="TextBox 15" id="15"/>
          <p:cNvSpPr txBox="true"/>
          <p:nvPr/>
        </p:nvSpPr>
        <p:spPr>
          <a:xfrm rot="0">
            <a:off x="14370188" y="6932000"/>
            <a:ext cx="3124607" cy="647911"/>
          </a:xfrm>
          <a:prstGeom prst="rect">
            <a:avLst/>
          </a:prstGeom>
        </p:spPr>
        <p:txBody>
          <a:bodyPr anchor="t" rtlCol="false" tIns="0" lIns="0" bIns="0" rIns="0">
            <a:spAutoFit/>
          </a:bodyPr>
          <a:lstStyle/>
          <a:p>
            <a:pPr algn="ctr">
              <a:lnSpc>
                <a:spcPts val="5236"/>
              </a:lnSpc>
            </a:pPr>
            <a:r>
              <a:rPr lang="en-US" sz="3740">
                <a:solidFill>
                  <a:srgbClr val="333333"/>
                </a:solidFill>
                <a:latin typeface="Alice Bold"/>
                <a:ea typeface="Alice Bold"/>
                <a:cs typeface="Alice Bold"/>
                <a:sym typeface="Alice Bold"/>
              </a:rPr>
              <a:t>Ranphy Cabral</a:t>
            </a:r>
          </a:p>
        </p:txBody>
      </p:sp>
      <p:sp>
        <p:nvSpPr>
          <p:cNvPr name="TextBox 16" id="16"/>
          <p:cNvSpPr txBox="true"/>
          <p:nvPr/>
        </p:nvSpPr>
        <p:spPr>
          <a:xfrm rot="0">
            <a:off x="898407" y="6932000"/>
            <a:ext cx="2914204" cy="647943"/>
          </a:xfrm>
          <a:prstGeom prst="rect">
            <a:avLst/>
          </a:prstGeom>
        </p:spPr>
        <p:txBody>
          <a:bodyPr anchor="t" rtlCol="false" tIns="0" lIns="0" bIns="0" rIns="0">
            <a:spAutoFit/>
          </a:bodyPr>
          <a:lstStyle/>
          <a:p>
            <a:pPr algn="ctr">
              <a:lnSpc>
                <a:spcPts val="5236"/>
              </a:lnSpc>
            </a:pPr>
            <a:r>
              <a:rPr lang="en-US" sz="3740">
                <a:solidFill>
                  <a:srgbClr val="333333"/>
                </a:solidFill>
                <a:latin typeface="Alice Bold"/>
                <a:ea typeface="Alice Bold"/>
                <a:cs typeface="Alice Bold"/>
                <a:sym typeface="Alice Bold"/>
              </a:rPr>
              <a:t>Ryohei Shima</a:t>
            </a:r>
          </a:p>
        </p:txBody>
      </p:sp>
      <p:sp>
        <p:nvSpPr>
          <p:cNvPr name="TextBox 17" id="17"/>
          <p:cNvSpPr txBox="true"/>
          <p:nvPr/>
        </p:nvSpPr>
        <p:spPr>
          <a:xfrm rot="0">
            <a:off x="5686524" y="6932000"/>
            <a:ext cx="2629198" cy="647943"/>
          </a:xfrm>
          <a:prstGeom prst="rect">
            <a:avLst/>
          </a:prstGeom>
        </p:spPr>
        <p:txBody>
          <a:bodyPr anchor="t" rtlCol="false" tIns="0" lIns="0" bIns="0" rIns="0">
            <a:spAutoFit/>
          </a:bodyPr>
          <a:lstStyle/>
          <a:p>
            <a:pPr algn="ctr">
              <a:lnSpc>
                <a:spcPts val="5236"/>
              </a:lnSpc>
            </a:pPr>
            <a:r>
              <a:rPr lang="en-US" sz="3740">
                <a:solidFill>
                  <a:srgbClr val="333333"/>
                </a:solidFill>
                <a:latin typeface="Alice Bold"/>
                <a:ea typeface="Alice Bold"/>
                <a:cs typeface="Alice Bold"/>
                <a:sym typeface="Alice Bold"/>
              </a:rPr>
              <a:t>Justin Miller</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80985" y="4771386"/>
            <a:ext cx="6126030"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INTRODUCTION</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80985" y="656586"/>
            <a:ext cx="6126030"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INTRODUCTION</a:t>
            </a:r>
          </a:p>
        </p:txBody>
      </p:sp>
      <p:sp>
        <p:nvSpPr>
          <p:cNvPr name="TextBox 6" id="6"/>
          <p:cNvSpPr txBox="true"/>
          <p:nvPr/>
        </p:nvSpPr>
        <p:spPr>
          <a:xfrm rot="0">
            <a:off x="1028700" y="1922145"/>
            <a:ext cx="16230600" cy="10833735"/>
          </a:xfrm>
          <a:prstGeom prst="rect">
            <a:avLst/>
          </a:prstGeom>
        </p:spPr>
        <p:txBody>
          <a:bodyPr anchor="t" rtlCol="false" tIns="0" lIns="0" bIns="0" rIns="0">
            <a:spAutoFit/>
          </a:bodyPr>
          <a:lstStyle/>
          <a:p>
            <a:pPr algn="l">
              <a:lnSpc>
                <a:spcPts val="5040"/>
              </a:lnSpc>
            </a:pPr>
            <a:r>
              <a:rPr lang="en-US" sz="3600">
                <a:solidFill>
                  <a:srgbClr val="333333"/>
                </a:solidFill>
                <a:latin typeface="Alice"/>
                <a:ea typeface="Alice"/>
                <a:cs typeface="Alice"/>
                <a:sym typeface="Alice"/>
              </a:rPr>
              <a:t>Project Objective</a:t>
            </a:r>
          </a:p>
          <a:p>
            <a:pPr algn="l" marL="777240" indent="-388620" lvl="1">
              <a:lnSpc>
                <a:spcPts val="5040"/>
              </a:lnSpc>
              <a:buFont typeface="Arial"/>
              <a:buChar char="•"/>
            </a:pPr>
            <a:r>
              <a:rPr lang="en-US" sz="3600">
                <a:solidFill>
                  <a:srgbClr val="333333"/>
                </a:solidFill>
                <a:latin typeface="Alice"/>
                <a:ea typeface="Alice"/>
                <a:cs typeface="Alice"/>
                <a:sym typeface="Alice"/>
              </a:rPr>
              <a:t>Analyze over 155,000 records from the NYPD 2021 arrest data (</a:t>
            </a:r>
            <a:r>
              <a:rPr lang="en-US" sz="3600" u="sng">
                <a:solidFill>
                  <a:srgbClr val="5170FF"/>
                </a:solidFill>
                <a:latin typeface="Alice"/>
                <a:ea typeface="Alice"/>
                <a:cs typeface="Alice"/>
                <a:sym typeface="Alice"/>
                <a:hlinkClick r:id="rId4" tooltip="https://data.cityofnewyork.us/Public-Safety/NYPD-Arrest-Data-Year-to-Date-/uip8-fykc/about_data"/>
              </a:rPr>
              <a:t>NYC Open Data</a:t>
            </a:r>
            <a:r>
              <a:rPr lang="en-US" sz="3600">
                <a:solidFill>
                  <a:srgbClr val="333333"/>
                </a:solidFill>
                <a:latin typeface="Alice"/>
                <a:ea typeface="Alice"/>
                <a:cs typeface="Alice"/>
                <a:sym typeface="Alice"/>
              </a:rPr>
              <a:t>) </a:t>
            </a:r>
            <a:r>
              <a:rPr lang="en-US" sz="3600">
                <a:solidFill>
                  <a:srgbClr val="333333"/>
                </a:solidFill>
                <a:latin typeface="Alice"/>
                <a:ea typeface="Alice"/>
                <a:cs typeface="Alice"/>
                <a:sym typeface="Alice"/>
              </a:rPr>
              <a:t>to identify key trends and insights. </a:t>
            </a:r>
          </a:p>
          <a:p>
            <a:pPr algn="l" marL="777240" indent="-388620" lvl="1">
              <a:lnSpc>
                <a:spcPts val="5040"/>
              </a:lnSpc>
              <a:buFont typeface="Arial"/>
              <a:buChar char="•"/>
            </a:pPr>
            <a:r>
              <a:rPr lang="en-US" sz="3600">
                <a:solidFill>
                  <a:srgbClr val="333333"/>
                </a:solidFill>
                <a:latin typeface="Alice"/>
                <a:ea typeface="Alice"/>
                <a:cs typeface="Alice"/>
                <a:sym typeface="Alice"/>
              </a:rPr>
              <a:t>Provide data-driven recommendations to the Mayor of New York City to support informed public safety and community well being. </a:t>
            </a:r>
          </a:p>
          <a:p>
            <a:pPr algn="l">
              <a:lnSpc>
                <a:spcPts val="5040"/>
              </a:lnSpc>
            </a:pPr>
          </a:p>
          <a:p>
            <a:pPr algn="l">
              <a:lnSpc>
                <a:spcPts val="5040"/>
              </a:lnSpc>
            </a:pPr>
            <a:r>
              <a:rPr lang="en-US" sz="3600">
                <a:solidFill>
                  <a:srgbClr val="333333"/>
                </a:solidFill>
                <a:latin typeface="Alice"/>
                <a:ea typeface="Alice"/>
                <a:cs typeface="Alice"/>
                <a:sym typeface="Alice"/>
              </a:rPr>
              <a:t>Questions We Asked</a:t>
            </a:r>
          </a:p>
          <a:p>
            <a:pPr algn="l" marL="777240" indent="-388620" lvl="1">
              <a:lnSpc>
                <a:spcPts val="5040"/>
              </a:lnSpc>
              <a:buFont typeface="Arial"/>
              <a:buChar char="•"/>
            </a:pPr>
            <a:r>
              <a:rPr lang="en-US" sz="3600">
                <a:solidFill>
                  <a:srgbClr val="333333"/>
                </a:solidFill>
                <a:latin typeface="Alice"/>
                <a:ea typeface="Alice"/>
                <a:cs typeface="Alice"/>
                <a:sym typeface="Alice"/>
              </a:rPr>
              <a:t>Which borough has the highest crime rate?</a:t>
            </a:r>
          </a:p>
          <a:p>
            <a:pPr algn="l" marL="777240" indent="-388620" lvl="1">
              <a:lnSpc>
                <a:spcPts val="5040"/>
              </a:lnSpc>
              <a:buFont typeface="Arial"/>
              <a:buChar char="•"/>
            </a:pPr>
            <a:r>
              <a:rPr lang="en-US" sz="3600">
                <a:solidFill>
                  <a:srgbClr val="333333"/>
                </a:solidFill>
                <a:latin typeface="Alice"/>
                <a:ea typeface="Alice"/>
                <a:cs typeface="Alice"/>
                <a:sym typeface="Alice"/>
              </a:rPr>
              <a:t>What seasons see the highest spike in crimes?</a:t>
            </a:r>
          </a:p>
          <a:p>
            <a:pPr algn="l" marL="777240" indent="-388620" lvl="1">
              <a:lnSpc>
                <a:spcPts val="5040"/>
              </a:lnSpc>
              <a:buFont typeface="Arial"/>
              <a:buChar char="•"/>
            </a:pPr>
            <a:r>
              <a:rPr lang="en-US" sz="3600">
                <a:solidFill>
                  <a:srgbClr val="333333"/>
                </a:solidFill>
                <a:latin typeface="Alice"/>
                <a:ea typeface="Alice"/>
                <a:cs typeface="Alice"/>
                <a:sym typeface="Alice"/>
              </a:rPr>
              <a:t>What age group commits the most crimes?</a:t>
            </a:r>
          </a:p>
          <a:p>
            <a:pPr algn="l" marL="777240" indent="-388620" lvl="1">
              <a:lnSpc>
                <a:spcPts val="5040"/>
              </a:lnSpc>
              <a:buFont typeface="Arial"/>
              <a:buChar char="•"/>
            </a:pPr>
            <a:r>
              <a:rPr lang="en-US" sz="3600">
                <a:solidFill>
                  <a:srgbClr val="333333"/>
                </a:solidFill>
                <a:latin typeface="Alice"/>
                <a:ea typeface="Alice"/>
                <a:cs typeface="Alice"/>
                <a:sym typeface="Alice"/>
              </a:rPr>
              <a:t>How do the arrests differ by gender?</a:t>
            </a:r>
          </a:p>
          <a:p>
            <a:pPr algn="l">
              <a:lnSpc>
                <a:spcPts val="5040"/>
              </a:lnSpc>
            </a:pPr>
          </a:p>
          <a:p>
            <a:pPr algn="l">
              <a:lnSpc>
                <a:spcPts val="5040"/>
              </a:lnSpc>
            </a:pPr>
          </a:p>
          <a:p>
            <a:pPr algn="l">
              <a:lnSpc>
                <a:spcPts val="5040"/>
              </a:lnSpc>
            </a:pPr>
          </a:p>
          <a:p>
            <a:pPr algn="l">
              <a:lnSpc>
                <a:spcPts val="5040"/>
              </a:lnSpc>
            </a:pPr>
          </a:p>
          <a:p>
            <a:pPr algn="l">
              <a:lnSpc>
                <a:spcPts val="5040"/>
              </a:lnSpc>
            </a:pPr>
          </a:p>
          <a:p>
            <a:pPr algn="l">
              <a:lnSpc>
                <a:spcPts val="504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80985" y="4371336"/>
            <a:ext cx="6126030" cy="16300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EXECUTIVE SUMMARY</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80985" y="4771386"/>
            <a:ext cx="6126030"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ISSUES</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6080985" y="656586"/>
            <a:ext cx="6126030"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ISSUES</a:t>
            </a:r>
          </a:p>
        </p:txBody>
      </p:sp>
      <p:sp>
        <p:nvSpPr>
          <p:cNvPr name="TextBox 6" id="6"/>
          <p:cNvSpPr txBox="true"/>
          <p:nvPr/>
        </p:nvSpPr>
        <p:spPr>
          <a:xfrm rot="0">
            <a:off x="1028700" y="2560320"/>
            <a:ext cx="16230600" cy="5090160"/>
          </a:xfrm>
          <a:prstGeom prst="rect">
            <a:avLst/>
          </a:prstGeom>
        </p:spPr>
        <p:txBody>
          <a:bodyPr anchor="t" rtlCol="false" tIns="0" lIns="0" bIns="0" rIns="0">
            <a:spAutoFit/>
          </a:bodyPr>
          <a:lstStyle/>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Borough concentration</a:t>
            </a:r>
            <a:r>
              <a:rPr lang="en-US" sz="3600">
                <a:solidFill>
                  <a:srgbClr val="333333"/>
                </a:solidFill>
                <a:latin typeface="Alice"/>
                <a:ea typeface="Alice"/>
                <a:cs typeface="Alice"/>
                <a:sym typeface="Alice"/>
              </a:rPr>
              <a:t> – Most arrests occurred in Brooklyn and Manhattan.</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Seasonal spikes</a:t>
            </a:r>
            <a:r>
              <a:rPr lang="en-US" sz="3600">
                <a:solidFill>
                  <a:srgbClr val="333333"/>
                </a:solidFill>
                <a:latin typeface="Alice"/>
                <a:ea typeface="Alice"/>
                <a:cs typeface="Alice"/>
                <a:sym typeface="Alice"/>
              </a:rPr>
              <a:t> – Arrests were highest in Fall and Summer.</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Age group disparity</a:t>
            </a:r>
            <a:r>
              <a:rPr lang="en-US" sz="3600">
                <a:solidFill>
                  <a:srgbClr val="333333"/>
                </a:solidFill>
                <a:latin typeface="Alice"/>
                <a:ea typeface="Alice"/>
                <a:cs typeface="Alice"/>
                <a:sym typeface="Alice"/>
              </a:rPr>
              <a:t> – Adults aged 25–44 made up the majority of arrests.</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Gender gap</a:t>
            </a:r>
            <a:r>
              <a:rPr lang="en-US" sz="3600">
                <a:solidFill>
                  <a:srgbClr val="333333"/>
                </a:solidFill>
                <a:latin typeface="Alice"/>
                <a:ea typeface="Alice"/>
                <a:cs typeface="Alice"/>
                <a:sym typeface="Alice"/>
              </a:rPr>
              <a:t> – Males were arrested nearly five times more than females.</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4717288" y="4771386"/>
            <a:ext cx="8853424"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RECOMMENDATIONS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4717288" y="656586"/>
            <a:ext cx="8853424"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RECOMMENDATIONS</a:t>
            </a:r>
          </a:p>
        </p:txBody>
      </p:sp>
      <p:sp>
        <p:nvSpPr>
          <p:cNvPr name="TextBox 6" id="6"/>
          <p:cNvSpPr txBox="true"/>
          <p:nvPr/>
        </p:nvSpPr>
        <p:spPr>
          <a:xfrm rot="0">
            <a:off x="1028700" y="1603058"/>
            <a:ext cx="16230600" cy="7004685"/>
          </a:xfrm>
          <a:prstGeom prst="rect">
            <a:avLst/>
          </a:prstGeom>
        </p:spPr>
        <p:txBody>
          <a:bodyPr anchor="t" rtlCol="false" tIns="0" lIns="0" bIns="0" rIns="0">
            <a:spAutoFit/>
          </a:bodyPr>
          <a:lstStyle/>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Balance Enforcement</a:t>
            </a:r>
            <a:r>
              <a:rPr lang="en-US" sz="3600">
                <a:solidFill>
                  <a:srgbClr val="333333"/>
                </a:solidFill>
                <a:latin typeface="Alice"/>
                <a:ea typeface="Alice"/>
                <a:cs typeface="Alice"/>
                <a:sym typeface="Alice"/>
              </a:rPr>
              <a:t> –Have more NYPD officers deployed in Manhattan and Brooklyn since it’s a larger city area.</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Seasonal Crime Prevention</a:t>
            </a:r>
            <a:r>
              <a:rPr lang="en-US" sz="3600">
                <a:solidFill>
                  <a:srgbClr val="333333"/>
                </a:solidFill>
                <a:latin typeface="Alice"/>
                <a:ea typeface="Alice"/>
                <a:cs typeface="Alice"/>
                <a:sym typeface="Alice"/>
              </a:rPr>
              <a:t> – Strengthen community policing, youth engagement, and outreach efforts during the summer and fall.</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Support the 25–44 </a:t>
            </a:r>
            <a:r>
              <a:rPr lang="en-US" sz="3600">
                <a:solidFill>
                  <a:srgbClr val="333333"/>
                </a:solidFill>
                <a:latin typeface="Alice Bold"/>
                <a:ea typeface="Alice Bold"/>
                <a:cs typeface="Alice Bold"/>
                <a:sym typeface="Alice Bold"/>
              </a:rPr>
              <a:t>Age Group</a:t>
            </a:r>
            <a:r>
              <a:rPr lang="en-US" sz="3600">
                <a:solidFill>
                  <a:srgbClr val="333333"/>
                </a:solidFill>
                <a:latin typeface="Alice"/>
                <a:ea typeface="Alice"/>
                <a:cs typeface="Alice"/>
                <a:sym typeface="Alice"/>
              </a:rPr>
              <a:t> – Provide mental health services, job training, and rehabilitation centers.</a:t>
            </a:r>
          </a:p>
          <a:p>
            <a:pPr algn="l">
              <a:lnSpc>
                <a:spcPts val="5040"/>
              </a:lnSpc>
            </a:pPr>
          </a:p>
          <a:p>
            <a:pPr algn="l" marL="777240" indent="-388620" lvl="1">
              <a:lnSpc>
                <a:spcPts val="5040"/>
              </a:lnSpc>
              <a:buFont typeface="Arial"/>
              <a:buChar char="•"/>
            </a:pPr>
            <a:r>
              <a:rPr lang="en-US" sz="3600">
                <a:solidFill>
                  <a:srgbClr val="333333"/>
                </a:solidFill>
                <a:latin typeface="Alice Bold"/>
                <a:ea typeface="Alice Bold"/>
                <a:cs typeface="Alice Bold"/>
                <a:sym typeface="Alice Bold"/>
              </a:rPr>
              <a:t>Gender-Responsive Programs</a:t>
            </a:r>
            <a:r>
              <a:rPr lang="en-US" sz="3600">
                <a:solidFill>
                  <a:srgbClr val="333333"/>
                </a:solidFill>
                <a:latin typeface="Alice"/>
                <a:ea typeface="Alice"/>
                <a:cs typeface="Alice"/>
                <a:sym typeface="Alice"/>
              </a:rPr>
              <a:t> – Expand mentorship, rehabilitation, and violence-prevention initiatives tailored for young men.</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4194175"/>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CONTEXT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026846" y="3116580"/>
            <a:ext cx="14234309" cy="3968116"/>
          </a:xfrm>
          <a:prstGeom prst="rect">
            <a:avLst/>
          </a:prstGeom>
        </p:spPr>
        <p:txBody>
          <a:bodyPr anchor="t" rtlCol="false" tIns="0" lIns="0" bIns="0" rIns="0">
            <a:spAutoFit/>
          </a:bodyPr>
          <a:lstStyle/>
          <a:p>
            <a:pPr algn="ctr">
              <a:lnSpc>
                <a:spcPts val="5879"/>
              </a:lnSpc>
            </a:pPr>
            <a:r>
              <a:rPr lang="en-US" sz="4199">
                <a:solidFill>
                  <a:srgbClr val="000000"/>
                </a:solidFill>
                <a:latin typeface="Special Elite"/>
                <a:ea typeface="Special Elite"/>
                <a:cs typeface="Special Elite"/>
                <a:sym typeface="Special Elite"/>
              </a:rPr>
              <a:t>What is the problem?</a:t>
            </a:r>
          </a:p>
          <a:p>
            <a:pPr algn="ctr">
              <a:lnSpc>
                <a:spcPts val="5459"/>
              </a:lnSpc>
            </a:pPr>
          </a:p>
          <a:p>
            <a:pPr algn="ctr">
              <a:lnSpc>
                <a:spcPts val="5040"/>
              </a:lnSpc>
              <a:spcBef>
                <a:spcPct val="0"/>
              </a:spcBef>
            </a:pPr>
            <a:r>
              <a:rPr lang="en-US" sz="3600">
                <a:solidFill>
                  <a:srgbClr val="000000"/>
                </a:solidFill>
                <a:latin typeface="Alice"/>
                <a:ea typeface="Alice"/>
                <a:cs typeface="Alice"/>
                <a:sym typeface="Alice"/>
              </a:rPr>
              <a:t>We do not know how effectively safety is maintained across New York City communities. Data analysis is needed to determine whether certain boroughs or populations are disproportionately impacted.</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026846" y="3088005"/>
            <a:ext cx="14234309" cy="4025266"/>
          </a:xfrm>
          <a:prstGeom prst="rect">
            <a:avLst/>
          </a:prstGeom>
        </p:spPr>
        <p:txBody>
          <a:bodyPr anchor="t" rtlCol="false" tIns="0" lIns="0" bIns="0" rIns="0">
            <a:spAutoFit/>
          </a:bodyPr>
          <a:lstStyle/>
          <a:p>
            <a:pPr algn="ctr">
              <a:lnSpc>
                <a:spcPts val="5879"/>
              </a:lnSpc>
              <a:spcBef>
                <a:spcPct val="0"/>
              </a:spcBef>
            </a:pPr>
            <a:r>
              <a:rPr lang="en-US" sz="4199">
                <a:solidFill>
                  <a:srgbClr val="000000"/>
                </a:solidFill>
                <a:latin typeface="Special Elite"/>
                <a:ea typeface="Special Elite"/>
                <a:cs typeface="Special Elite"/>
                <a:sym typeface="Special Elite"/>
              </a:rPr>
              <a:t>Why is this project important?</a:t>
            </a:r>
          </a:p>
          <a:p>
            <a:pPr algn="ctr">
              <a:lnSpc>
                <a:spcPts val="5879"/>
              </a:lnSpc>
              <a:spcBef>
                <a:spcPct val="0"/>
              </a:spcBef>
            </a:pPr>
          </a:p>
          <a:p>
            <a:pPr algn="ctr">
              <a:lnSpc>
                <a:spcPts val="5040"/>
              </a:lnSpc>
              <a:spcBef>
                <a:spcPct val="0"/>
              </a:spcBef>
            </a:pPr>
            <a:r>
              <a:rPr lang="en-US" sz="3600">
                <a:solidFill>
                  <a:srgbClr val="000000"/>
                </a:solidFill>
                <a:latin typeface="Alice"/>
                <a:ea typeface="Alice"/>
                <a:cs typeface="Alice"/>
                <a:sym typeface="Alice"/>
              </a:rPr>
              <a:t>It helps the Mayor’s office understand who is being arrested and where these arrests are occurring. With these insights, we can identify strategies to enhance public safety and better serve New York City communities.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026846" y="3107055"/>
            <a:ext cx="14234309" cy="3987166"/>
          </a:xfrm>
          <a:prstGeom prst="rect">
            <a:avLst/>
          </a:prstGeom>
        </p:spPr>
        <p:txBody>
          <a:bodyPr anchor="t" rtlCol="false" tIns="0" lIns="0" bIns="0" rIns="0">
            <a:spAutoFit/>
          </a:bodyPr>
          <a:lstStyle/>
          <a:p>
            <a:pPr algn="ctr">
              <a:lnSpc>
                <a:spcPts val="5879"/>
              </a:lnSpc>
              <a:spcBef>
                <a:spcPct val="0"/>
              </a:spcBef>
            </a:pPr>
            <a:r>
              <a:rPr lang="en-US" sz="4199">
                <a:solidFill>
                  <a:srgbClr val="000000"/>
                </a:solidFill>
                <a:latin typeface="Special Elite"/>
                <a:ea typeface="Special Elite"/>
                <a:cs typeface="Special Elite"/>
                <a:sym typeface="Special Elite"/>
              </a:rPr>
              <a:t>Why is this a meaningful space to explore?</a:t>
            </a:r>
          </a:p>
          <a:p>
            <a:pPr algn="ctr">
              <a:lnSpc>
                <a:spcPts val="5599"/>
              </a:lnSpc>
              <a:spcBef>
                <a:spcPct val="0"/>
              </a:spcBef>
            </a:pPr>
          </a:p>
          <a:p>
            <a:pPr algn="ctr">
              <a:lnSpc>
                <a:spcPts val="5040"/>
              </a:lnSpc>
              <a:spcBef>
                <a:spcPct val="0"/>
              </a:spcBef>
            </a:pPr>
            <a:r>
              <a:rPr lang="en-US" sz="3600">
                <a:solidFill>
                  <a:srgbClr val="000000"/>
                </a:solidFill>
                <a:latin typeface="Alice"/>
                <a:ea typeface="Alice"/>
                <a:cs typeface="Alice"/>
                <a:sym typeface="Alice"/>
              </a:rPr>
              <a:t>This analysis sheds light on what crimes are committed most often, who is being arrested, and where. It’s essential for shaping fairer, more effective public safety policies and figuring out ways to prevent crimes.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TextBox 2" id="2"/>
          <p:cNvSpPr txBox="true"/>
          <p:nvPr/>
        </p:nvSpPr>
        <p:spPr>
          <a:xfrm rot="0">
            <a:off x="1028700" y="4194175"/>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METHODOLOGY</a:t>
            </a:r>
          </a:p>
        </p:txBody>
      </p:sp>
      <p:grpSp>
        <p:nvGrpSpPr>
          <p:cNvPr name="Group 3" id="3"/>
          <p:cNvGrpSpPr/>
          <p:nvPr/>
        </p:nvGrpSpPr>
        <p:grpSpPr>
          <a:xfrm rot="0">
            <a:off x="-1698652" y="-277826"/>
            <a:ext cx="21685304" cy="10842652"/>
            <a:chOff x="0" y="0"/>
            <a:chExt cx="28913738" cy="14456869"/>
          </a:xfrm>
        </p:grpSpPr>
        <p:sp>
          <p:nvSpPr>
            <p:cNvPr name="Freeform 4" id="4"/>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2395262"/>
            <a:ext cx="16230600" cy="2109978"/>
          </a:xfrm>
          <a:custGeom>
            <a:avLst/>
            <a:gdLst/>
            <a:ahLst/>
            <a:cxnLst/>
            <a:rect r="r" b="b" t="t" l="l"/>
            <a:pathLst>
              <a:path h="2109978" w="16230600">
                <a:moveTo>
                  <a:pt x="0" y="0"/>
                </a:moveTo>
                <a:lnTo>
                  <a:pt x="16230600" y="0"/>
                </a:lnTo>
                <a:lnTo>
                  <a:pt x="16230600" y="2109978"/>
                </a:lnTo>
                <a:lnTo>
                  <a:pt x="0" y="21099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019207" y="4505240"/>
            <a:ext cx="1384896" cy="1830992"/>
          </a:xfrm>
          <a:custGeom>
            <a:avLst/>
            <a:gdLst/>
            <a:ahLst/>
            <a:cxnLst/>
            <a:rect r="r" b="b" t="t" l="l"/>
            <a:pathLst>
              <a:path h="1830992" w="1384896">
                <a:moveTo>
                  <a:pt x="0" y="0"/>
                </a:moveTo>
                <a:lnTo>
                  <a:pt x="1384896" y="0"/>
                </a:lnTo>
                <a:lnTo>
                  <a:pt x="1384896" y="1830992"/>
                </a:lnTo>
                <a:lnTo>
                  <a:pt x="0" y="1830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7" id="7"/>
          <p:cNvSpPr txBox="true"/>
          <p:nvPr/>
        </p:nvSpPr>
        <p:spPr>
          <a:xfrm rot="0">
            <a:off x="7003405" y="527972"/>
            <a:ext cx="4281190" cy="896620"/>
          </a:xfrm>
          <a:prstGeom prst="rect">
            <a:avLst/>
          </a:prstGeom>
        </p:spPr>
        <p:txBody>
          <a:bodyPr anchor="t" rtlCol="false" tIns="0" lIns="0" bIns="0" rIns="0">
            <a:spAutoFit/>
          </a:bodyPr>
          <a:lstStyle/>
          <a:p>
            <a:pPr algn="ctr">
              <a:lnSpc>
                <a:spcPts val="7279"/>
              </a:lnSpc>
            </a:pPr>
            <a:r>
              <a:rPr lang="en-US" sz="5199">
                <a:solidFill>
                  <a:srgbClr val="000000"/>
                </a:solidFill>
                <a:latin typeface="Special Elite"/>
                <a:ea typeface="Special Elite"/>
                <a:cs typeface="Special Elite"/>
                <a:sym typeface="Special Elite"/>
              </a:rPr>
              <a:t>Team Process</a:t>
            </a:r>
          </a:p>
        </p:txBody>
      </p:sp>
      <p:sp>
        <p:nvSpPr>
          <p:cNvPr name="TextBox 8" id="8"/>
          <p:cNvSpPr txBox="true"/>
          <p:nvPr/>
        </p:nvSpPr>
        <p:spPr>
          <a:xfrm rot="0">
            <a:off x="1373088" y="6558761"/>
            <a:ext cx="2677133" cy="999574"/>
          </a:xfrm>
          <a:prstGeom prst="rect">
            <a:avLst/>
          </a:prstGeom>
        </p:spPr>
        <p:txBody>
          <a:bodyPr anchor="t" rtlCol="false" tIns="0" lIns="0" bIns="0" rIns="0">
            <a:spAutoFit/>
          </a:bodyPr>
          <a:lstStyle/>
          <a:p>
            <a:pPr algn="l" marL="410208" indent="-205104" lvl="1">
              <a:lnSpc>
                <a:spcPts val="2659"/>
              </a:lnSpc>
              <a:buFont typeface="Arial"/>
              <a:buChar char="•"/>
            </a:pPr>
            <a:r>
              <a:rPr lang="en-US" sz="1899">
                <a:solidFill>
                  <a:srgbClr val="000000"/>
                </a:solidFill>
                <a:latin typeface="Special Elite"/>
                <a:ea typeface="Special Elite"/>
                <a:cs typeface="Special Elite"/>
                <a:sym typeface="Special Elite"/>
              </a:rPr>
              <a:t>USED THE NYPD 2021 ARRESTS DATASET PROVIDED</a:t>
            </a:r>
          </a:p>
        </p:txBody>
      </p:sp>
      <p:sp>
        <p:nvSpPr>
          <p:cNvPr name="TextBox 9" id="9"/>
          <p:cNvSpPr txBox="true"/>
          <p:nvPr/>
        </p:nvSpPr>
        <p:spPr>
          <a:xfrm rot="0">
            <a:off x="1860928" y="3040149"/>
            <a:ext cx="2388018" cy="772580"/>
          </a:xfrm>
          <a:prstGeom prst="rect">
            <a:avLst/>
          </a:prstGeom>
        </p:spPr>
        <p:txBody>
          <a:bodyPr anchor="t" rtlCol="false" tIns="0" lIns="0" bIns="0" rIns="0">
            <a:spAutoFit/>
          </a:bodyPr>
          <a:lstStyle/>
          <a:p>
            <a:pPr algn="ctr">
              <a:lnSpc>
                <a:spcPts val="3096"/>
              </a:lnSpc>
              <a:spcBef>
                <a:spcPct val="0"/>
              </a:spcBef>
            </a:pPr>
            <a:r>
              <a:rPr lang="en-US" sz="2211">
                <a:solidFill>
                  <a:srgbClr val="000000"/>
                </a:solidFill>
                <a:latin typeface="Special Elite"/>
                <a:ea typeface="Special Elite"/>
                <a:cs typeface="Special Elite"/>
                <a:sym typeface="Special Elite"/>
              </a:rPr>
              <a:t>DATA COLLECTION</a:t>
            </a:r>
          </a:p>
        </p:txBody>
      </p:sp>
      <p:sp>
        <p:nvSpPr>
          <p:cNvPr name="TextBox 10" id="10"/>
          <p:cNvSpPr txBox="true"/>
          <p:nvPr/>
        </p:nvSpPr>
        <p:spPr>
          <a:xfrm rot="0">
            <a:off x="5210972" y="3235434"/>
            <a:ext cx="2172205" cy="382010"/>
          </a:xfrm>
          <a:prstGeom prst="rect">
            <a:avLst/>
          </a:prstGeom>
        </p:spPr>
        <p:txBody>
          <a:bodyPr anchor="t" rtlCol="false" tIns="0" lIns="0" bIns="0" rIns="0">
            <a:spAutoFit/>
          </a:bodyPr>
          <a:lstStyle/>
          <a:p>
            <a:pPr algn="ctr">
              <a:lnSpc>
                <a:spcPts val="3096"/>
              </a:lnSpc>
              <a:spcBef>
                <a:spcPct val="0"/>
              </a:spcBef>
            </a:pPr>
            <a:r>
              <a:rPr lang="en-US" sz="2211">
                <a:solidFill>
                  <a:srgbClr val="000000"/>
                </a:solidFill>
                <a:latin typeface="Special Elite"/>
                <a:ea typeface="Special Elite"/>
                <a:cs typeface="Special Elite"/>
                <a:sym typeface="Special Elite"/>
              </a:rPr>
              <a:t>DATA CLEANING</a:t>
            </a:r>
          </a:p>
        </p:txBody>
      </p:sp>
      <p:sp>
        <p:nvSpPr>
          <p:cNvPr name="TextBox 11" id="11"/>
          <p:cNvSpPr txBox="true"/>
          <p:nvPr/>
        </p:nvSpPr>
        <p:spPr>
          <a:xfrm rot="0">
            <a:off x="8183277" y="3040149"/>
            <a:ext cx="2485169" cy="772579"/>
          </a:xfrm>
          <a:prstGeom prst="rect">
            <a:avLst/>
          </a:prstGeom>
        </p:spPr>
        <p:txBody>
          <a:bodyPr anchor="t" rtlCol="false" tIns="0" lIns="0" bIns="0" rIns="0">
            <a:spAutoFit/>
          </a:bodyPr>
          <a:lstStyle/>
          <a:p>
            <a:pPr algn="ctr">
              <a:lnSpc>
                <a:spcPts val="3096"/>
              </a:lnSpc>
              <a:spcBef>
                <a:spcPct val="0"/>
              </a:spcBef>
            </a:pPr>
            <a:r>
              <a:rPr lang="en-US" sz="2211">
                <a:solidFill>
                  <a:srgbClr val="000000"/>
                </a:solidFill>
                <a:latin typeface="Special Elite"/>
                <a:ea typeface="Special Elite"/>
                <a:cs typeface="Special Elite"/>
                <a:sym typeface="Special Elite"/>
              </a:rPr>
              <a:t>DATA TRANSFORMATION</a:t>
            </a:r>
          </a:p>
        </p:txBody>
      </p:sp>
      <p:sp>
        <p:nvSpPr>
          <p:cNvPr name="TextBox 12" id="12"/>
          <p:cNvSpPr txBox="true"/>
          <p:nvPr/>
        </p:nvSpPr>
        <p:spPr>
          <a:xfrm rot="0">
            <a:off x="11468546" y="3235434"/>
            <a:ext cx="2172205" cy="382010"/>
          </a:xfrm>
          <a:prstGeom prst="rect">
            <a:avLst/>
          </a:prstGeom>
        </p:spPr>
        <p:txBody>
          <a:bodyPr anchor="t" rtlCol="false" tIns="0" lIns="0" bIns="0" rIns="0">
            <a:spAutoFit/>
          </a:bodyPr>
          <a:lstStyle/>
          <a:p>
            <a:pPr algn="ctr">
              <a:lnSpc>
                <a:spcPts val="3096"/>
              </a:lnSpc>
              <a:spcBef>
                <a:spcPct val="0"/>
              </a:spcBef>
            </a:pPr>
            <a:r>
              <a:rPr lang="en-US" sz="2211">
                <a:solidFill>
                  <a:srgbClr val="000000"/>
                </a:solidFill>
                <a:latin typeface="Special Elite"/>
                <a:ea typeface="Special Elite"/>
                <a:cs typeface="Special Elite"/>
                <a:sym typeface="Special Elite"/>
              </a:rPr>
              <a:t>ANALYSIS</a:t>
            </a:r>
          </a:p>
        </p:txBody>
      </p:sp>
      <p:sp>
        <p:nvSpPr>
          <p:cNvPr name="TextBox 13" id="13"/>
          <p:cNvSpPr txBox="true"/>
          <p:nvPr/>
        </p:nvSpPr>
        <p:spPr>
          <a:xfrm rot="0">
            <a:off x="14620826" y="3235434"/>
            <a:ext cx="2172205" cy="382010"/>
          </a:xfrm>
          <a:prstGeom prst="rect">
            <a:avLst/>
          </a:prstGeom>
        </p:spPr>
        <p:txBody>
          <a:bodyPr anchor="t" rtlCol="false" tIns="0" lIns="0" bIns="0" rIns="0">
            <a:spAutoFit/>
          </a:bodyPr>
          <a:lstStyle/>
          <a:p>
            <a:pPr algn="ctr">
              <a:lnSpc>
                <a:spcPts val="3096"/>
              </a:lnSpc>
              <a:spcBef>
                <a:spcPct val="0"/>
              </a:spcBef>
            </a:pPr>
            <a:r>
              <a:rPr lang="en-US" sz="2211">
                <a:solidFill>
                  <a:srgbClr val="000000"/>
                </a:solidFill>
                <a:latin typeface="Special Elite"/>
                <a:ea typeface="Special Elite"/>
                <a:cs typeface="Special Elite"/>
                <a:sym typeface="Special Elite"/>
              </a:rPr>
              <a:t>VISUALIZATION</a:t>
            </a:r>
          </a:p>
        </p:txBody>
      </p:sp>
      <p:sp>
        <p:nvSpPr>
          <p:cNvPr name="Freeform 14" id="14"/>
          <p:cNvSpPr/>
          <p:nvPr/>
        </p:nvSpPr>
        <p:spPr>
          <a:xfrm flipH="false" flipV="false" rot="0">
            <a:off x="5210972" y="4505240"/>
            <a:ext cx="1384896" cy="1830992"/>
          </a:xfrm>
          <a:custGeom>
            <a:avLst/>
            <a:gdLst/>
            <a:ahLst/>
            <a:cxnLst/>
            <a:rect r="r" b="b" t="t" l="l"/>
            <a:pathLst>
              <a:path h="1830992" w="1384896">
                <a:moveTo>
                  <a:pt x="0" y="0"/>
                </a:moveTo>
                <a:lnTo>
                  <a:pt x="1384896" y="0"/>
                </a:lnTo>
                <a:lnTo>
                  <a:pt x="1384896" y="1830992"/>
                </a:lnTo>
                <a:lnTo>
                  <a:pt x="0" y="1830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5" id="15"/>
          <p:cNvSpPr/>
          <p:nvPr/>
        </p:nvSpPr>
        <p:spPr>
          <a:xfrm flipH="false" flipV="false" rot="0">
            <a:off x="8183277" y="4505240"/>
            <a:ext cx="1384896" cy="1830992"/>
          </a:xfrm>
          <a:custGeom>
            <a:avLst/>
            <a:gdLst/>
            <a:ahLst/>
            <a:cxnLst/>
            <a:rect r="r" b="b" t="t" l="l"/>
            <a:pathLst>
              <a:path h="1830992" w="1384896">
                <a:moveTo>
                  <a:pt x="0" y="0"/>
                </a:moveTo>
                <a:lnTo>
                  <a:pt x="1384896" y="0"/>
                </a:lnTo>
                <a:lnTo>
                  <a:pt x="1384896" y="1830992"/>
                </a:lnTo>
                <a:lnTo>
                  <a:pt x="0" y="1830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6" id="16"/>
          <p:cNvSpPr/>
          <p:nvPr/>
        </p:nvSpPr>
        <p:spPr>
          <a:xfrm flipH="false" flipV="false" rot="0">
            <a:off x="11486595" y="4505240"/>
            <a:ext cx="1384896" cy="1830992"/>
          </a:xfrm>
          <a:custGeom>
            <a:avLst/>
            <a:gdLst/>
            <a:ahLst/>
            <a:cxnLst/>
            <a:rect r="r" b="b" t="t" l="l"/>
            <a:pathLst>
              <a:path h="1830992" w="1384896">
                <a:moveTo>
                  <a:pt x="0" y="0"/>
                </a:moveTo>
                <a:lnTo>
                  <a:pt x="1384896" y="0"/>
                </a:lnTo>
                <a:lnTo>
                  <a:pt x="1384896" y="1830992"/>
                </a:lnTo>
                <a:lnTo>
                  <a:pt x="0" y="1830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17" id="17"/>
          <p:cNvSpPr/>
          <p:nvPr/>
        </p:nvSpPr>
        <p:spPr>
          <a:xfrm flipH="false" flipV="false" rot="0">
            <a:off x="14620826" y="4505240"/>
            <a:ext cx="1384896" cy="1830992"/>
          </a:xfrm>
          <a:custGeom>
            <a:avLst/>
            <a:gdLst/>
            <a:ahLst/>
            <a:cxnLst/>
            <a:rect r="r" b="b" t="t" l="l"/>
            <a:pathLst>
              <a:path h="1830992" w="1384896">
                <a:moveTo>
                  <a:pt x="0" y="0"/>
                </a:moveTo>
                <a:lnTo>
                  <a:pt x="1384896" y="0"/>
                </a:lnTo>
                <a:lnTo>
                  <a:pt x="1384896" y="1830992"/>
                </a:lnTo>
                <a:lnTo>
                  <a:pt x="0" y="183099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8" id="18"/>
          <p:cNvSpPr txBox="true"/>
          <p:nvPr/>
        </p:nvSpPr>
        <p:spPr>
          <a:xfrm rot="0">
            <a:off x="4564853" y="6634961"/>
            <a:ext cx="2677133" cy="1686560"/>
          </a:xfrm>
          <a:prstGeom prst="rect">
            <a:avLst/>
          </a:prstGeom>
        </p:spPr>
        <p:txBody>
          <a:bodyPr anchor="t" rtlCol="false" tIns="0" lIns="0" bIns="0" rIns="0">
            <a:spAutoFit/>
          </a:bodyPr>
          <a:lstStyle/>
          <a:p>
            <a:pPr algn="l" marL="410208" indent="-205104" lvl="1">
              <a:lnSpc>
                <a:spcPts val="1899"/>
              </a:lnSpc>
              <a:buFont typeface="Arial"/>
              <a:buChar char="•"/>
            </a:pPr>
            <a:r>
              <a:rPr lang="en-US" sz="1899">
                <a:solidFill>
                  <a:srgbClr val="000000"/>
                </a:solidFill>
                <a:latin typeface="Special Elite"/>
                <a:ea typeface="Special Elite"/>
                <a:cs typeface="Special Elite"/>
                <a:sym typeface="Special Elite"/>
              </a:rPr>
              <a:t>CHECKED FOR DUPLICATES</a:t>
            </a:r>
          </a:p>
          <a:p>
            <a:pPr algn="l">
              <a:lnSpc>
                <a:spcPts val="1899"/>
              </a:lnSpc>
            </a:pPr>
          </a:p>
          <a:p>
            <a:pPr algn="l" marL="410208" indent="-205104" lvl="1">
              <a:lnSpc>
                <a:spcPts val="1899"/>
              </a:lnSpc>
              <a:buFont typeface="Arial"/>
              <a:buChar char="•"/>
            </a:pPr>
            <a:r>
              <a:rPr lang="en-US" sz="1899">
                <a:solidFill>
                  <a:srgbClr val="000000"/>
                </a:solidFill>
                <a:latin typeface="Special Elite"/>
                <a:ea typeface="Special Elite"/>
                <a:cs typeface="Special Elite"/>
                <a:sym typeface="Special Elite"/>
              </a:rPr>
              <a:t>REMOVED COLUMNS</a:t>
            </a:r>
          </a:p>
          <a:p>
            <a:pPr algn="l">
              <a:lnSpc>
                <a:spcPts val="1899"/>
              </a:lnSpc>
            </a:pPr>
          </a:p>
          <a:p>
            <a:pPr algn="l" marL="410208" indent="-205104" lvl="1">
              <a:lnSpc>
                <a:spcPts val="1899"/>
              </a:lnSpc>
              <a:buFont typeface="Arial"/>
              <a:buChar char="•"/>
            </a:pPr>
            <a:r>
              <a:rPr lang="en-US" sz="1899">
                <a:solidFill>
                  <a:srgbClr val="000000"/>
                </a:solidFill>
                <a:latin typeface="Special Elite"/>
                <a:ea typeface="Special Elite"/>
                <a:cs typeface="Special Elite"/>
                <a:sym typeface="Special Elite"/>
              </a:rPr>
              <a:t>REPLACED NULL VALUES</a:t>
            </a:r>
          </a:p>
        </p:txBody>
      </p:sp>
      <p:sp>
        <p:nvSpPr>
          <p:cNvPr name="TextBox 19" id="19"/>
          <p:cNvSpPr txBox="true"/>
          <p:nvPr/>
        </p:nvSpPr>
        <p:spPr>
          <a:xfrm rot="0">
            <a:off x="7716147" y="6558761"/>
            <a:ext cx="2319155" cy="1571101"/>
          </a:xfrm>
          <a:prstGeom prst="rect">
            <a:avLst/>
          </a:prstGeom>
        </p:spPr>
        <p:txBody>
          <a:bodyPr anchor="t" rtlCol="false" tIns="0" lIns="0" bIns="0" rIns="0">
            <a:spAutoFit/>
          </a:bodyPr>
          <a:lstStyle/>
          <a:p>
            <a:pPr algn="l" marL="410208" indent="-205104" lvl="1">
              <a:lnSpc>
                <a:spcPts val="2659"/>
              </a:lnSpc>
              <a:buFont typeface="Arial"/>
              <a:buChar char="•"/>
            </a:pPr>
            <a:r>
              <a:rPr lang="en-US" sz="1899">
                <a:solidFill>
                  <a:srgbClr val="000000"/>
                </a:solidFill>
                <a:latin typeface="Special Elite"/>
                <a:ea typeface="Special Elite"/>
                <a:cs typeface="Special Elite"/>
                <a:sym typeface="Special Elite"/>
              </a:rPr>
              <a:t>STANDARDIZED COLUMNS </a:t>
            </a:r>
          </a:p>
          <a:p>
            <a:pPr algn="l">
              <a:lnSpc>
                <a:spcPts val="1918"/>
              </a:lnSpc>
            </a:pPr>
          </a:p>
          <a:p>
            <a:pPr algn="l" marL="410208" indent="-205104" lvl="1">
              <a:lnSpc>
                <a:spcPts val="2659"/>
              </a:lnSpc>
              <a:buFont typeface="Arial"/>
              <a:buChar char="•"/>
            </a:pPr>
            <a:r>
              <a:rPr lang="en-US" sz="1899">
                <a:solidFill>
                  <a:srgbClr val="000000"/>
                </a:solidFill>
                <a:latin typeface="Special Elite"/>
                <a:ea typeface="Special Elite"/>
                <a:cs typeface="Special Elite"/>
                <a:sym typeface="Special Elite"/>
              </a:rPr>
              <a:t>ADDED NEW COLUMNS</a:t>
            </a:r>
          </a:p>
        </p:txBody>
      </p:sp>
      <p:sp>
        <p:nvSpPr>
          <p:cNvPr name="TextBox 20" id="20"/>
          <p:cNvSpPr txBox="true"/>
          <p:nvPr/>
        </p:nvSpPr>
        <p:spPr>
          <a:xfrm rot="0">
            <a:off x="10840477" y="6558761"/>
            <a:ext cx="2677133" cy="1332976"/>
          </a:xfrm>
          <a:prstGeom prst="rect">
            <a:avLst/>
          </a:prstGeom>
        </p:spPr>
        <p:txBody>
          <a:bodyPr anchor="t" rtlCol="false" tIns="0" lIns="0" bIns="0" rIns="0">
            <a:spAutoFit/>
          </a:bodyPr>
          <a:lstStyle/>
          <a:p>
            <a:pPr algn="l" marL="410208" indent="-205104" lvl="1">
              <a:lnSpc>
                <a:spcPts val="2659"/>
              </a:lnSpc>
              <a:buFont typeface="Arial"/>
              <a:buChar char="•"/>
            </a:pPr>
            <a:r>
              <a:rPr lang="en-US" sz="1899">
                <a:solidFill>
                  <a:srgbClr val="000000"/>
                </a:solidFill>
                <a:latin typeface="Special Elite"/>
                <a:ea typeface="Special Elite"/>
                <a:cs typeface="Special Elite"/>
                <a:sym typeface="Special Elite"/>
              </a:rPr>
              <a:t>USED EXCEL AND PYTHON FOR EXPLATORY DATA ANALYSIS</a:t>
            </a:r>
          </a:p>
        </p:txBody>
      </p:sp>
      <p:sp>
        <p:nvSpPr>
          <p:cNvPr name="TextBox 21" id="21"/>
          <p:cNvSpPr txBox="true"/>
          <p:nvPr/>
        </p:nvSpPr>
        <p:spPr>
          <a:xfrm rot="0">
            <a:off x="13974707" y="6558761"/>
            <a:ext cx="2677133" cy="999574"/>
          </a:xfrm>
          <a:prstGeom prst="rect">
            <a:avLst/>
          </a:prstGeom>
        </p:spPr>
        <p:txBody>
          <a:bodyPr anchor="t" rtlCol="false" tIns="0" lIns="0" bIns="0" rIns="0">
            <a:spAutoFit/>
          </a:bodyPr>
          <a:lstStyle/>
          <a:p>
            <a:pPr algn="l" marL="410208" indent="-205104" lvl="1">
              <a:lnSpc>
                <a:spcPts val="2659"/>
              </a:lnSpc>
              <a:buFont typeface="Arial"/>
              <a:buChar char="•"/>
            </a:pPr>
            <a:r>
              <a:rPr lang="en-US" sz="1899">
                <a:solidFill>
                  <a:srgbClr val="000000"/>
                </a:solidFill>
                <a:latin typeface="Special Elite"/>
                <a:ea typeface="Special Elite"/>
                <a:cs typeface="Special Elite"/>
                <a:sym typeface="Special Elite"/>
              </a:rPr>
              <a:t>CREATED VISUALIZATIONS USING TABLEAU</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7367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4778795" y="4255453"/>
            <a:ext cx="8730410" cy="1708154"/>
          </a:xfrm>
          <a:prstGeom prst="rect">
            <a:avLst/>
          </a:prstGeom>
        </p:spPr>
        <p:txBody>
          <a:bodyPr anchor="t" rtlCol="false" tIns="0" lIns="0" bIns="0" rIns="0">
            <a:spAutoFit/>
          </a:bodyPr>
          <a:lstStyle/>
          <a:p>
            <a:pPr algn="ctr">
              <a:lnSpc>
                <a:spcPts val="13999"/>
              </a:lnSpc>
            </a:pPr>
            <a:r>
              <a:rPr lang="en-US" sz="9999">
                <a:solidFill>
                  <a:srgbClr val="000000"/>
                </a:solidFill>
                <a:latin typeface="Special Elite"/>
                <a:ea typeface="Special Elite"/>
                <a:cs typeface="Special Elite"/>
                <a:sym typeface="Special Elite"/>
              </a:rPr>
              <a:t>FINDINGS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2517849"/>
            <a:ext cx="16230600" cy="5060802"/>
          </a:xfrm>
          <a:prstGeom prst="rect">
            <a:avLst/>
          </a:prstGeom>
        </p:spPr>
        <p:txBody>
          <a:bodyPr anchor="t" rtlCol="false" tIns="0" lIns="0" bIns="0" rIns="0">
            <a:spAutoFit/>
          </a:bodyPr>
          <a:lstStyle/>
          <a:p>
            <a:pPr algn="ctr">
              <a:lnSpc>
                <a:spcPts val="13483"/>
              </a:lnSpc>
            </a:pPr>
            <a:r>
              <a:rPr lang="en-US" sz="9630">
                <a:solidFill>
                  <a:srgbClr val="333333"/>
                </a:solidFill>
                <a:latin typeface="Special Elite"/>
                <a:ea typeface="Special Elite"/>
                <a:cs typeface="Special Elite"/>
                <a:sym typeface="Special Elite"/>
              </a:rPr>
              <a:t>WHAT BOROUGHS HAVE THE HIGHEST CONCENTRATIONS OF ARRESTS?</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89127"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539306" y="2082977"/>
            <a:ext cx="9225419" cy="7659821"/>
          </a:xfrm>
          <a:custGeom>
            <a:avLst/>
            <a:gdLst/>
            <a:ahLst/>
            <a:cxnLst/>
            <a:rect r="r" b="b" t="t" l="l"/>
            <a:pathLst>
              <a:path h="7659821" w="9225419">
                <a:moveTo>
                  <a:pt x="0" y="0"/>
                </a:moveTo>
                <a:lnTo>
                  <a:pt x="9225418" y="0"/>
                </a:lnTo>
                <a:lnTo>
                  <a:pt x="9225418" y="7659821"/>
                </a:lnTo>
                <a:lnTo>
                  <a:pt x="0" y="7659821"/>
                </a:lnTo>
                <a:lnTo>
                  <a:pt x="0" y="0"/>
                </a:lnTo>
                <a:close/>
              </a:path>
            </a:pathLst>
          </a:custGeom>
          <a:blipFill>
            <a:blip r:embed="rId4"/>
            <a:stretch>
              <a:fillRect l="-41374" t="-7601" r="-53905" b="0"/>
            </a:stretch>
          </a:blipFill>
          <a:ln w="38100" cap="sq">
            <a:solidFill>
              <a:srgbClr val="000000"/>
            </a:solidFill>
            <a:prstDash val="solid"/>
            <a:miter/>
          </a:ln>
        </p:spPr>
      </p:sp>
      <p:sp>
        <p:nvSpPr>
          <p:cNvPr name="TextBox 6" id="6"/>
          <p:cNvSpPr txBox="true"/>
          <p:nvPr/>
        </p:nvSpPr>
        <p:spPr>
          <a:xfrm rot="0">
            <a:off x="1028700" y="374826"/>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ARRESTS BY BOROUGH</a:t>
            </a:r>
          </a:p>
        </p:txBody>
      </p:sp>
      <p:sp>
        <p:nvSpPr>
          <p:cNvPr name="TextBox 7" id="7"/>
          <p:cNvSpPr txBox="true"/>
          <p:nvPr/>
        </p:nvSpPr>
        <p:spPr>
          <a:xfrm rot="0">
            <a:off x="10240645" y="2478122"/>
            <a:ext cx="7587109" cy="4020482"/>
          </a:xfrm>
          <a:prstGeom prst="rect">
            <a:avLst/>
          </a:prstGeom>
        </p:spPr>
        <p:txBody>
          <a:bodyPr anchor="t" rtlCol="false" tIns="0" lIns="0" bIns="0" rIns="0">
            <a:spAutoFit/>
          </a:bodyPr>
          <a:lstStyle/>
          <a:p>
            <a:pPr algn="l" marL="518160" indent="-259080" lvl="1">
              <a:lnSpc>
                <a:spcPts val="3551"/>
              </a:lnSpc>
              <a:buFont typeface="Arial"/>
              <a:buChar char="•"/>
            </a:pPr>
            <a:r>
              <a:rPr lang="en-US" sz="2400">
                <a:solidFill>
                  <a:srgbClr val="333333"/>
                </a:solidFill>
                <a:latin typeface="Alice"/>
                <a:ea typeface="Alice"/>
                <a:cs typeface="Alice"/>
                <a:sym typeface="Alice"/>
              </a:rPr>
              <a:t>Brooklyn had ove</a:t>
            </a:r>
            <a:r>
              <a:rPr lang="en-US" sz="2400">
                <a:solidFill>
                  <a:srgbClr val="333333"/>
                </a:solidFill>
                <a:latin typeface="Alice"/>
                <a:ea typeface="Alice"/>
                <a:cs typeface="Alice"/>
                <a:sym typeface="Alice"/>
              </a:rPr>
              <a:t>r (41,000) arrests, making it the borough with the largest share of total arrests.</a:t>
            </a:r>
          </a:p>
          <a:p>
            <a:pPr algn="l">
              <a:lnSpc>
                <a:spcPts val="3551"/>
              </a:lnSpc>
            </a:pPr>
          </a:p>
          <a:p>
            <a:pPr algn="l" marL="518160" indent="-259080" lvl="1">
              <a:lnSpc>
                <a:spcPts val="3551"/>
              </a:lnSpc>
              <a:buFont typeface="Arial"/>
              <a:buChar char="•"/>
            </a:pPr>
            <a:r>
              <a:rPr lang="en-US" sz="2400">
                <a:solidFill>
                  <a:srgbClr val="333333"/>
                </a:solidFill>
                <a:latin typeface="Alice"/>
                <a:ea typeface="Alice"/>
                <a:cs typeface="Alice"/>
                <a:sym typeface="Alice"/>
              </a:rPr>
              <a:t>Staten Island had the lowest number of arrests, with Just over (7,000) arrests.</a:t>
            </a:r>
          </a:p>
          <a:p>
            <a:pPr algn="l">
              <a:lnSpc>
                <a:spcPts val="3551"/>
              </a:lnSpc>
            </a:pPr>
          </a:p>
          <a:p>
            <a:pPr algn="l" marL="518160" indent="-259080" lvl="1">
              <a:lnSpc>
                <a:spcPts val="3551"/>
              </a:lnSpc>
              <a:buFont typeface="Arial"/>
              <a:buChar char="•"/>
            </a:pPr>
            <a:r>
              <a:rPr lang="en-US" sz="2400">
                <a:solidFill>
                  <a:srgbClr val="333333"/>
                </a:solidFill>
                <a:latin typeface="Alice"/>
                <a:ea typeface="Alice"/>
                <a:cs typeface="Alice"/>
                <a:sym typeface="Alice"/>
              </a:rPr>
              <a:t>Both the Bronx and Queens were nearly tied in arrests, despite Queens having almost a million more residents.</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28700" y="2422525"/>
            <a:ext cx="16230600" cy="52514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WHAT MONTHS SAW AN INCREASE OR DECREASE IN CRIME?</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70077"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028700" y="2082938"/>
            <a:ext cx="8435926" cy="7655603"/>
          </a:xfrm>
          <a:custGeom>
            <a:avLst/>
            <a:gdLst/>
            <a:ahLst/>
            <a:cxnLst/>
            <a:rect r="r" b="b" t="t" l="l"/>
            <a:pathLst>
              <a:path h="7655603" w="8435926">
                <a:moveTo>
                  <a:pt x="0" y="0"/>
                </a:moveTo>
                <a:lnTo>
                  <a:pt x="8435926" y="0"/>
                </a:lnTo>
                <a:lnTo>
                  <a:pt x="8435926" y="7655603"/>
                </a:lnTo>
                <a:lnTo>
                  <a:pt x="0" y="7655603"/>
                </a:lnTo>
                <a:lnTo>
                  <a:pt x="0" y="0"/>
                </a:lnTo>
                <a:close/>
              </a:path>
            </a:pathLst>
          </a:custGeom>
          <a:blipFill>
            <a:blip r:embed="rId4"/>
            <a:stretch>
              <a:fillRect l="0" t="0" r="0" b="0"/>
            </a:stretch>
          </a:blipFill>
          <a:ln w="38100" cap="sq">
            <a:solidFill>
              <a:srgbClr val="000000"/>
            </a:solidFill>
            <a:prstDash val="solid"/>
            <a:miter/>
          </a:ln>
        </p:spPr>
      </p:sp>
      <p:sp>
        <p:nvSpPr>
          <p:cNvPr name="TextBox 6" id="6"/>
          <p:cNvSpPr txBox="true"/>
          <p:nvPr/>
        </p:nvSpPr>
        <p:spPr>
          <a:xfrm rot="0">
            <a:off x="1028700" y="374826"/>
            <a:ext cx="16230600" cy="1708112"/>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ARRESTS BY MONTH</a:t>
            </a:r>
          </a:p>
        </p:txBody>
      </p:sp>
      <p:sp>
        <p:nvSpPr>
          <p:cNvPr name="TextBox 7" id="7"/>
          <p:cNvSpPr txBox="true"/>
          <p:nvPr/>
        </p:nvSpPr>
        <p:spPr>
          <a:xfrm rot="0">
            <a:off x="10033666" y="2238201"/>
            <a:ext cx="7225634" cy="6545785"/>
          </a:xfrm>
          <a:prstGeom prst="rect">
            <a:avLst/>
          </a:prstGeom>
        </p:spPr>
        <p:txBody>
          <a:bodyPr anchor="t" rtlCol="false" tIns="0" lIns="0" bIns="0" rIns="0">
            <a:spAutoFit/>
          </a:bodyPr>
          <a:lstStyle/>
          <a:p>
            <a:pPr algn="l" marL="582924" indent="-291462" lvl="1">
              <a:lnSpc>
                <a:spcPts val="4049"/>
              </a:lnSpc>
              <a:buFont typeface="Arial"/>
              <a:buChar char="•"/>
            </a:pPr>
            <a:r>
              <a:rPr lang="en-US" sz="2699">
                <a:solidFill>
                  <a:srgbClr val="333333"/>
                </a:solidFill>
                <a:latin typeface="Alice"/>
                <a:ea typeface="Alice"/>
                <a:cs typeface="Alice"/>
                <a:sym typeface="Alice"/>
              </a:rPr>
              <a:t>October had the highest number of arrests in 2021 with (14,452) arrests made.</a:t>
            </a:r>
          </a:p>
          <a:p>
            <a:pPr algn="l">
              <a:lnSpc>
                <a:spcPts val="4049"/>
              </a:lnSpc>
            </a:pPr>
          </a:p>
          <a:p>
            <a:pPr algn="l" marL="582924" indent="-291462" lvl="1">
              <a:lnSpc>
                <a:spcPts val="4049"/>
              </a:lnSpc>
              <a:buFont typeface="Arial"/>
              <a:buChar char="•"/>
            </a:pPr>
            <a:r>
              <a:rPr lang="en-US" sz="2699">
                <a:solidFill>
                  <a:srgbClr val="333333"/>
                </a:solidFill>
                <a:latin typeface="Alice"/>
                <a:ea typeface="Alice"/>
                <a:cs typeface="Alice"/>
                <a:sym typeface="Alice"/>
              </a:rPr>
              <a:t>April had the lowest number of arrests for 2021 with (10,421) arrests made.</a:t>
            </a:r>
          </a:p>
          <a:p>
            <a:pPr algn="l">
              <a:lnSpc>
                <a:spcPts val="4049"/>
              </a:lnSpc>
            </a:pPr>
          </a:p>
          <a:p>
            <a:pPr algn="l" marL="582924" indent="-291462" lvl="1">
              <a:lnSpc>
                <a:spcPts val="4049"/>
              </a:lnSpc>
              <a:buFont typeface="Arial"/>
              <a:buChar char="•"/>
            </a:pPr>
            <a:r>
              <a:rPr lang="en-US" sz="2699">
                <a:solidFill>
                  <a:srgbClr val="333333"/>
                </a:solidFill>
                <a:latin typeface="Alice"/>
                <a:ea typeface="Alice"/>
                <a:cs typeface="Alice"/>
                <a:sym typeface="Alice"/>
              </a:rPr>
              <a:t>The highest spike in crime occurred between February and March.</a:t>
            </a:r>
          </a:p>
          <a:p>
            <a:pPr algn="l">
              <a:lnSpc>
                <a:spcPts val="4049"/>
              </a:lnSpc>
            </a:pPr>
          </a:p>
          <a:p>
            <a:pPr algn="l" marL="582924" indent="-291462" lvl="1">
              <a:lnSpc>
                <a:spcPts val="4049"/>
              </a:lnSpc>
              <a:buFont typeface="Arial"/>
              <a:buChar char="•"/>
            </a:pPr>
            <a:r>
              <a:rPr lang="en-US" sz="2699">
                <a:solidFill>
                  <a:srgbClr val="333333"/>
                </a:solidFill>
                <a:latin typeface="Alice"/>
                <a:ea typeface="Alice"/>
                <a:cs typeface="Alice"/>
                <a:sym typeface="Alice"/>
              </a:rPr>
              <a:t>The biggest dip in crime happened between March and April.</a:t>
            </a:r>
          </a:p>
          <a:p>
            <a:pPr algn="l">
              <a:lnSpc>
                <a:spcPts val="4049"/>
              </a:lnSpc>
            </a:pPr>
          </a:p>
          <a:p>
            <a:pPr algn="l" marL="582924" indent="-291462" lvl="1">
              <a:lnSpc>
                <a:spcPts val="4049"/>
              </a:lnSpc>
              <a:buFont typeface="Arial"/>
              <a:buChar char="•"/>
            </a:pPr>
            <a:r>
              <a:rPr lang="en-US" sz="2699">
                <a:solidFill>
                  <a:srgbClr val="333333"/>
                </a:solidFill>
                <a:latin typeface="Alice"/>
                <a:ea typeface="Alice"/>
                <a:cs typeface="Alice"/>
                <a:sym typeface="Alice"/>
              </a:rPr>
              <a:t>Arrests steadily increase after April.</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70077"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275896" y="2082977"/>
            <a:ext cx="6711471" cy="6090660"/>
          </a:xfrm>
          <a:custGeom>
            <a:avLst/>
            <a:gdLst/>
            <a:ahLst/>
            <a:cxnLst/>
            <a:rect r="r" b="b" t="t" l="l"/>
            <a:pathLst>
              <a:path h="6090660" w="6711471">
                <a:moveTo>
                  <a:pt x="0" y="0"/>
                </a:moveTo>
                <a:lnTo>
                  <a:pt x="6711471" y="0"/>
                </a:lnTo>
                <a:lnTo>
                  <a:pt x="6711471" y="6090660"/>
                </a:lnTo>
                <a:lnTo>
                  <a:pt x="0" y="6090660"/>
                </a:lnTo>
                <a:lnTo>
                  <a:pt x="0" y="0"/>
                </a:lnTo>
                <a:close/>
              </a:path>
            </a:pathLst>
          </a:custGeom>
          <a:blipFill>
            <a:blip r:embed="rId4"/>
            <a:stretch>
              <a:fillRect l="0" t="0" r="0" b="0"/>
            </a:stretch>
          </a:blipFill>
          <a:ln w="28575" cap="sq">
            <a:solidFill>
              <a:srgbClr val="000000"/>
            </a:solidFill>
            <a:prstDash val="solid"/>
            <a:miter/>
          </a:ln>
        </p:spPr>
      </p:sp>
      <p:sp>
        <p:nvSpPr>
          <p:cNvPr name="Freeform 6" id="6"/>
          <p:cNvSpPr/>
          <p:nvPr/>
        </p:nvSpPr>
        <p:spPr>
          <a:xfrm flipH="false" flipV="false" rot="0">
            <a:off x="7148496" y="2082977"/>
            <a:ext cx="10472838" cy="6090660"/>
          </a:xfrm>
          <a:custGeom>
            <a:avLst/>
            <a:gdLst/>
            <a:ahLst/>
            <a:cxnLst/>
            <a:rect r="r" b="b" t="t" l="l"/>
            <a:pathLst>
              <a:path h="6090660" w="10472838">
                <a:moveTo>
                  <a:pt x="0" y="0"/>
                </a:moveTo>
                <a:lnTo>
                  <a:pt x="10472838" y="0"/>
                </a:lnTo>
                <a:lnTo>
                  <a:pt x="10472838" y="6090660"/>
                </a:lnTo>
                <a:lnTo>
                  <a:pt x="0" y="6090660"/>
                </a:lnTo>
                <a:lnTo>
                  <a:pt x="0" y="0"/>
                </a:lnTo>
                <a:close/>
              </a:path>
            </a:pathLst>
          </a:custGeom>
          <a:blipFill>
            <a:blip r:embed="rId5"/>
            <a:stretch>
              <a:fillRect l="0" t="0" r="0" b="0"/>
            </a:stretch>
          </a:blipFill>
          <a:ln w="28575" cap="sq">
            <a:solidFill>
              <a:srgbClr val="000000"/>
            </a:solidFill>
            <a:prstDash val="solid"/>
            <a:miter/>
          </a:ln>
        </p:spPr>
      </p:sp>
      <p:sp>
        <p:nvSpPr>
          <p:cNvPr name="TextBox 7" id="7"/>
          <p:cNvSpPr txBox="true"/>
          <p:nvPr/>
        </p:nvSpPr>
        <p:spPr>
          <a:xfrm rot="0">
            <a:off x="1028700" y="374826"/>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ARRESTS VS COVID CASES </a:t>
            </a:r>
          </a:p>
        </p:txBody>
      </p:sp>
      <p:sp>
        <p:nvSpPr>
          <p:cNvPr name="TextBox 8" id="8"/>
          <p:cNvSpPr txBox="true"/>
          <p:nvPr/>
        </p:nvSpPr>
        <p:spPr>
          <a:xfrm rot="0">
            <a:off x="275896" y="8501168"/>
            <a:ext cx="17653534" cy="666171"/>
          </a:xfrm>
          <a:prstGeom prst="rect">
            <a:avLst/>
          </a:prstGeom>
        </p:spPr>
        <p:txBody>
          <a:bodyPr anchor="t" rtlCol="false" tIns="0" lIns="0" bIns="0" rIns="0">
            <a:spAutoFit/>
          </a:bodyPr>
          <a:lstStyle/>
          <a:p>
            <a:pPr algn="ctr">
              <a:lnSpc>
                <a:spcPts val="2659"/>
              </a:lnSpc>
              <a:spcBef>
                <a:spcPct val="0"/>
              </a:spcBef>
            </a:pPr>
            <a:r>
              <a:rPr lang="en-US" sz="1899">
                <a:solidFill>
                  <a:srgbClr val="333333"/>
                </a:solidFill>
                <a:latin typeface="Special Elite"/>
                <a:ea typeface="Special Elite"/>
                <a:cs typeface="Special Elite"/>
                <a:sym typeface="Special Elite"/>
              </a:rPr>
              <a:t>*COVID RESTRICTIONS IN NYC WERE LIFTED AFTER APRIL OF 2021. THERE IS A STEADY INCREASE IN ARRESTS AND COVID CASES UNTIL OCTOBER, WHERE BOTH ARRESTS AND COVID CASES PEAK.</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1047750" y="2413000"/>
            <a:ext cx="16230600" cy="5151754"/>
          </a:xfrm>
          <a:prstGeom prst="rect">
            <a:avLst/>
          </a:prstGeom>
        </p:spPr>
        <p:txBody>
          <a:bodyPr anchor="t" rtlCol="false" tIns="0" lIns="0" bIns="0" rIns="0">
            <a:spAutoFit/>
          </a:bodyPr>
          <a:lstStyle/>
          <a:p>
            <a:pPr algn="ctr">
              <a:lnSpc>
                <a:spcPts val="13720"/>
              </a:lnSpc>
            </a:pPr>
            <a:r>
              <a:rPr lang="en-US" sz="9800">
                <a:solidFill>
                  <a:srgbClr val="333333"/>
                </a:solidFill>
                <a:latin typeface="Special Elite"/>
                <a:ea typeface="Special Elite"/>
                <a:cs typeface="Special Elite"/>
                <a:sym typeface="Special Elite"/>
              </a:rPr>
              <a:t>WHAT AGE GROUP HAD THE HIGHEST NUMBER OF ARRESTS?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grpSp>
        <p:nvGrpSpPr>
          <p:cNvPr name="Group 5" id="5"/>
          <p:cNvGrpSpPr/>
          <p:nvPr/>
        </p:nvGrpSpPr>
        <p:grpSpPr>
          <a:xfrm rot="0">
            <a:off x="8370073" y="7170708"/>
            <a:ext cx="1547854" cy="1792512"/>
            <a:chOff x="0" y="0"/>
            <a:chExt cx="332307" cy="384833"/>
          </a:xfrm>
        </p:grpSpPr>
        <p:sp>
          <p:nvSpPr>
            <p:cNvPr name="Freeform 6" id="6"/>
            <p:cNvSpPr/>
            <p:nvPr/>
          </p:nvSpPr>
          <p:spPr>
            <a:xfrm flipH="false" flipV="false" rot="0">
              <a:off x="0" y="0"/>
              <a:ext cx="332307" cy="384833"/>
            </a:xfrm>
            <a:custGeom>
              <a:avLst/>
              <a:gdLst/>
              <a:ahLst/>
              <a:cxnLst/>
              <a:rect r="r" b="b" t="t" l="l"/>
              <a:pathLst>
                <a:path h="384833" w="332307">
                  <a:moveTo>
                    <a:pt x="166154" y="0"/>
                  </a:moveTo>
                  <a:lnTo>
                    <a:pt x="166154" y="0"/>
                  </a:lnTo>
                  <a:cubicBezTo>
                    <a:pt x="210220" y="0"/>
                    <a:pt x="252482" y="17505"/>
                    <a:pt x="283642" y="48665"/>
                  </a:cubicBezTo>
                  <a:cubicBezTo>
                    <a:pt x="314802" y="79825"/>
                    <a:pt x="332307" y="122087"/>
                    <a:pt x="332307" y="166154"/>
                  </a:cubicBezTo>
                  <a:lnTo>
                    <a:pt x="332307" y="218679"/>
                  </a:lnTo>
                  <a:cubicBezTo>
                    <a:pt x="332307" y="262746"/>
                    <a:pt x="314802" y="305008"/>
                    <a:pt x="283642" y="336168"/>
                  </a:cubicBezTo>
                  <a:cubicBezTo>
                    <a:pt x="252482" y="367328"/>
                    <a:pt x="210220" y="384833"/>
                    <a:pt x="166154" y="384833"/>
                  </a:cubicBezTo>
                  <a:lnTo>
                    <a:pt x="166154" y="384833"/>
                  </a:lnTo>
                  <a:cubicBezTo>
                    <a:pt x="122087" y="384833"/>
                    <a:pt x="79825" y="367328"/>
                    <a:pt x="48665" y="336168"/>
                  </a:cubicBezTo>
                  <a:cubicBezTo>
                    <a:pt x="17505" y="305008"/>
                    <a:pt x="0" y="262746"/>
                    <a:pt x="0" y="218679"/>
                  </a:cubicBezTo>
                  <a:lnTo>
                    <a:pt x="0" y="166154"/>
                  </a:lnTo>
                  <a:cubicBezTo>
                    <a:pt x="0" y="122087"/>
                    <a:pt x="17505" y="79825"/>
                    <a:pt x="48665" y="48665"/>
                  </a:cubicBezTo>
                  <a:cubicBezTo>
                    <a:pt x="79825" y="17505"/>
                    <a:pt x="122087" y="0"/>
                    <a:pt x="166154" y="0"/>
                  </a:cubicBezTo>
                  <a:close/>
                </a:path>
              </a:pathLst>
            </a:custGeom>
            <a:solidFill>
              <a:srgbClr val="F3F3F3"/>
            </a:solidFill>
          </p:spPr>
        </p:sp>
        <p:sp>
          <p:nvSpPr>
            <p:cNvPr name="TextBox 7" id="7"/>
            <p:cNvSpPr txBox="true"/>
            <p:nvPr/>
          </p:nvSpPr>
          <p:spPr>
            <a:xfrm>
              <a:off x="0" y="-38100"/>
              <a:ext cx="332307" cy="422933"/>
            </a:xfrm>
            <a:prstGeom prst="rect">
              <a:avLst/>
            </a:prstGeom>
          </p:spPr>
          <p:txBody>
            <a:bodyPr anchor="ctr" rtlCol="false" tIns="74760" lIns="74760" bIns="74760" rIns="74760"/>
            <a:lstStyle/>
            <a:p>
              <a:pPr algn="ctr">
                <a:lnSpc>
                  <a:spcPts val="2660"/>
                </a:lnSpc>
                <a:spcBef>
                  <a:spcPct val="0"/>
                </a:spcBef>
              </a:pPr>
            </a:p>
          </p:txBody>
        </p:sp>
      </p:grpSp>
      <p:grpSp>
        <p:nvGrpSpPr>
          <p:cNvPr name="Group 8" id="8"/>
          <p:cNvGrpSpPr/>
          <p:nvPr/>
        </p:nvGrpSpPr>
        <p:grpSpPr>
          <a:xfrm rot="0">
            <a:off x="10180239" y="7170708"/>
            <a:ext cx="1547854" cy="1792512"/>
            <a:chOff x="0" y="0"/>
            <a:chExt cx="332307" cy="384833"/>
          </a:xfrm>
        </p:grpSpPr>
        <p:sp>
          <p:nvSpPr>
            <p:cNvPr name="Freeform 9" id="9"/>
            <p:cNvSpPr/>
            <p:nvPr/>
          </p:nvSpPr>
          <p:spPr>
            <a:xfrm flipH="false" flipV="false" rot="0">
              <a:off x="0" y="0"/>
              <a:ext cx="332307" cy="384833"/>
            </a:xfrm>
            <a:custGeom>
              <a:avLst/>
              <a:gdLst/>
              <a:ahLst/>
              <a:cxnLst/>
              <a:rect r="r" b="b" t="t" l="l"/>
              <a:pathLst>
                <a:path h="384833" w="332307">
                  <a:moveTo>
                    <a:pt x="166154" y="0"/>
                  </a:moveTo>
                  <a:lnTo>
                    <a:pt x="166154" y="0"/>
                  </a:lnTo>
                  <a:cubicBezTo>
                    <a:pt x="210220" y="0"/>
                    <a:pt x="252482" y="17505"/>
                    <a:pt x="283642" y="48665"/>
                  </a:cubicBezTo>
                  <a:cubicBezTo>
                    <a:pt x="314802" y="79825"/>
                    <a:pt x="332307" y="122087"/>
                    <a:pt x="332307" y="166154"/>
                  </a:cubicBezTo>
                  <a:lnTo>
                    <a:pt x="332307" y="218679"/>
                  </a:lnTo>
                  <a:cubicBezTo>
                    <a:pt x="332307" y="262746"/>
                    <a:pt x="314802" y="305008"/>
                    <a:pt x="283642" y="336168"/>
                  </a:cubicBezTo>
                  <a:cubicBezTo>
                    <a:pt x="252482" y="367328"/>
                    <a:pt x="210220" y="384833"/>
                    <a:pt x="166154" y="384833"/>
                  </a:cubicBezTo>
                  <a:lnTo>
                    <a:pt x="166154" y="384833"/>
                  </a:lnTo>
                  <a:cubicBezTo>
                    <a:pt x="122087" y="384833"/>
                    <a:pt x="79825" y="367328"/>
                    <a:pt x="48665" y="336168"/>
                  </a:cubicBezTo>
                  <a:cubicBezTo>
                    <a:pt x="17505" y="305008"/>
                    <a:pt x="0" y="262746"/>
                    <a:pt x="0" y="218679"/>
                  </a:cubicBezTo>
                  <a:lnTo>
                    <a:pt x="0" y="166154"/>
                  </a:lnTo>
                  <a:cubicBezTo>
                    <a:pt x="0" y="122087"/>
                    <a:pt x="17505" y="79825"/>
                    <a:pt x="48665" y="48665"/>
                  </a:cubicBezTo>
                  <a:cubicBezTo>
                    <a:pt x="79825" y="17505"/>
                    <a:pt x="122087" y="0"/>
                    <a:pt x="166154" y="0"/>
                  </a:cubicBezTo>
                  <a:close/>
                </a:path>
              </a:pathLst>
            </a:custGeom>
            <a:solidFill>
              <a:srgbClr val="F3F3F3"/>
            </a:solidFill>
          </p:spPr>
        </p:sp>
        <p:sp>
          <p:nvSpPr>
            <p:cNvPr name="TextBox 10" id="10"/>
            <p:cNvSpPr txBox="true"/>
            <p:nvPr/>
          </p:nvSpPr>
          <p:spPr>
            <a:xfrm>
              <a:off x="0" y="-38100"/>
              <a:ext cx="332307" cy="422933"/>
            </a:xfrm>
            <a:prstGeom prst="rect">
              <a:avLst/>
            </a:prstGeom>
          </p:spPr>
          <p:txBody>
            <a:bodyPr anchor="ctr" rtlCol="false" tIns="74760" lIns="74760" bIns="74760" rIns="74760"/>
            <a:lstStyle/>
            <a:p>
              <a:pPr algn="ctr">
                <a:lnSpc>
                  <a:spcPts val="2660"/>
                </a:lnSpc>
                <a:spcBef>
                  <a:spcPct val="0"/>
                </a:spcBef>
              </a:pPr>
            </a:p>
          </p:txBody>
        </p:sp>
      </p:grpSp>
      <p:sp>
        <p:nvSpPr>
          <p:cNvPr name="Freeform 11" id="11"/>
          <p:cNvSpPr/>
          <p:nvPr/>
        </p:nvSpPr>
        <p:spPr>
          <a:xfrm flipH="false" flipV="false" rot="0">
            <a:off x="739420" y="835830"/>
            <a:ext cx="5888395" cy="9451170"/>
          </a:xfrm>
          <a:custGeom>
            <a:avLst/>
            <a:gdLst/>
            <a:ahLst/>
            <a:cxnLst/>
            <a:rect r="r" b="b" t="t" l="l"/>
            <a:pathLst>
              <a:path h="9451170" w="5888395">
                <a:moveTo>
                  <a:pt x="0" y="0"/>
                </a:moveTo>
                <a:lnTo>
                  <a:pt x="5888395" y="0"/>
                </a:lnTo>
                <a:lnTo>
                  <a:pt x="5888395" y="9451170"/>
                </a:lnTo>
                <a:lnTo>
                  <a:pt x="0" y="9451170"/>
                </a:lnTo>
                <a:lnTo>
                  <a:pt x="0" y="0"/>
                </a:lnTo>
                <a:close/>
              </a:path>
            </a:pathLst>
          </a:custGeom>
          <a:blipFill>
            <a:blip r:embed="rId4"/>
            <a:stretch>
              <a:fillRect l="0" t="-963" r="-3820" b="0"/>
            </a:stretch>
          </a:blipFill>
          <a:ln w="38100" cap="sq">
            <a:solidFill>
              <a:srgbClr val="000000"/>
            </a:solidFill>
            <a:prstDash val="solid"/>
            <a:miter/>
          </a:ln>
        </p:spPr>
      </p:sp>
      <p:sp>
        <p:nvSpPr>
          <p:cNvPr name="TextBox 12" id="12"/>
          <p:cNvSpPr txBox="true"/>
          <p:nvPr/>
        </p:nvSpPr>
        <p:spPr>
          <a:xfrm rot="0">
            <a:off x="6291638" y="524741"/>
            <a:ext cx="12103539" cy="1284148"/>
          </a:xfrm>
          <a:prstGeom prst="rect">
            <a:avLst/>
          </a:prstGeom>
        </p:spPr>
        <p:txBody>
          <a:bodyPr anchor="t" rtlCol="false" tIns="0" lIns="0" bIns="0" rIns="0">
            <a:spAutoFit/>
          </a:bodyPr>
          <a:lstStyle/>
          <a:p>
            <a:pPr algn="ctr">
              <a:lnSpc>
                <a:spcPts val="10440"/>
              </a:lnSpc>
            </a:pPr>
            <a:r>
              <a:rPr lang="en-US" sz="7457">
                <a:solidFill>
                  <a:srgbClr val="333333"/>
                </a:solidFill>
                <a:latin typeface="Special Elite"/>
                <a:ea typeface="Special Elite"/>
                <a:cs typeface="Special Elite"/>
                <a:sym typeface="Special Elite"/>
              </a:rPr>
              <a:t>ARRESTS BY AGE GROUP</a:t>
            </a:r>
          </a:p>
        </p:txBody>
      </p:sp>
      <p:sp>
        <p:nvSpPr>
          <p:cNvPr name="TextBox 13" id="13"/>
          <p:cNvSpPr txBox="true"/>
          <p:nvPr/>
        </p:nvSpPr>
        <p:spPr>
          <a:xfrm rot="0">
            <a:off x="6915441" y="2247764"/>
            <a:ext cx="10953569" cy="7010536"/>
          </a:xfrm>
          <a:prstGeom prst="rect">
            <a:avLst/>
          </a:prstGeom>
        </p:spPr>
        <p:txBody>
          <a:bodyPr anchor="t" rtlCol="false" tIns="0" lIns="0" bIns="0" rIns="0">
            <a:spAutoFit/>
          </a:bodyPr>
          <a:lstStyle/>
          <a:p>
            <a:pPr algn="just" marL="541494" indent="-270747" lvl="1">
              <a:lnSpc>
                <a:spcPts val="3511"/>
              </a:lnSpc>
              <a:buFont typeface="Arial"/>
              <a:buChar char="•"/>
            </a:pPr>
            <a:r>
              <a:rPr lang="en-US" sz="2508">
                <a:solidFill>
                  <a:srgbClr val="333333"/>
                </a:solidFill>
                <a:latin typeface="Alice"/>
                <a:ea typeface="Alice"/>
                <a:cs typeface="Alice"/>
                <a:sym typeface="Alice"/>
              </a:rPr>
              <a:t>The 25–44 age group accounts for the highest number of arrests, with 88,850 arrests, making it the dominant category by a large margin.</a:t>
            </a:r>
          </a:p>
          <a:p>
            <a:pPr algn="just">
              <a:lnSpc>
                <a:spcPts val="3511"/>
              </a:lnSpc>
            </a:pPr>
          </a:p>
          <a:p>
            <a:pPr algn="just" marL="541494" indent="-270747" lvl="1">
              <a:lnSpc>
                <a:spcPts val="3511"/>
              </a:lnSpc>
              <a:buFont typeface="Arial"/>
              <a:buChar char="•"/>
            </a:pPr>
            <a:r>
              <a:rPr lang="en-US" sz="2508">
                <a:solidFill>
                  <a:srgbClr val="333333"/>
                </a:solidFill>
                <a:latin typeface="Alice"/>
                <a:ea typeface="Alice"/>
                <a:cs typeface="Alice"/>
                <a:sym typeface="Alice"/>
              </a:rPr>
              <a:t>The 45–64 age group comes second with 30,608 arrests, followed closely by the 18–24 age group at 28,951 arrests.</a:t>
            </a:r>
          </a:p>
          <a:p>
            <a:pPr algn="just">
              <a:lnSpc>
                <a:spcPts val="3511"/>
              </a:lnSpc>
            </a:pPr>
          </a:p>
          <a:p>
            <a:pPr algn="just" marL="541494" indent="-270747" lvl="1">
              <a:lnSpc>
                <a:spcPts val="3511"/>
              </a:lnSpc>
              <a:buFont typeface="Arial"/>
              <a:buChar char="•"/>
            </a:pPr>
            <a:r>
              <a:rPr lang="en-US" sz="2508">
                <a:solidFill>
                  <a:srgbClr val="333333"/>
                </a:solidFill>
                <a:latin typeface="Alice"/>
                <a:ea typeface="Alice"/>
                <a:cs typeface="Alice"/>
                <a:sym typeface="Alice"/>
              </a:rPr>
              <a:t>Arrests drop significantly for minors (&lt;18) at 4,800 arrests, and are the lowest for seniors (65+) with just 2,298 arrests.</a:t>
            </a:r>
          </a:p>
          <a:p>
            <a:pPr algn="just">
              <a:lnSpc>
                <a:spcPts val="3511"/>
              </a:lnSpc>
            </a:pPr>
          </a:p>
          <a:p>
            <a:pPr algn="just" marL="541494" indent="-270747" lvl="1">
              <a:lnSpc>
                <a:spcPts val="3511"/>
              </a:lnSpc>
              <a:buFont typeface="Arial"/>
              <a:buChar char="•"/>
            </a:pPr>
            <a:r>
              <a:rPr lang="en-US" sz="2508">
                <a:solidFill>
                  <a:srgbClr val="333333"/>
                </a:solidFill>
                <a:latin typeface="Alice"/>
                <a:ea typeface="Alice"/>
                <a:cs typeface="Alice"/>
                <a:sym typeface="Alice"/>
              </a:rPr>
              <a:t>The data shows a clear concentration of arrests among young to middle-aged adults, particularly ages 25–44, which far surpasses all other groups combined.</a:t>
            </a:r>
          </a:p>
          <a:p>
            <a:pPr algn="just">
              <a:lnSpc>
                <a:spcPts val="3511"/>
              </a:lnSpc>
            </a:pPr>
          </a:p>
          <a:p>
            <a:pPr algn="just" marL="541494" indent="-270747" lvl="1">
              <a:lnSpc>
                <a:spcPts val="3511"/>
              </a:lnSpc>
              <a:buFont typeface="Arial"/>
              <a:buChar char="•"/>
            </a:pPr>
            <a:r>
              <a:rPr lang="en-US" sz="2508">
                <a:solidFill>
                  <a:srgbClr val="333333"/>
                </a:solidFill>
                <a:latin typeface="Alice"/>
                <a:ea typeface="Alice"/>
                <a:cs typeface="Alice"/>
                <a:sym typeface="Alice"/>
              </a:rPr>
              <a:t>Both the youngest (&lt;18) and oldest (65+) age groups represent only a small fraction of overall arrests, highlighting that crime is heavily concentrated in the working-age population.</a:t>
            </a:r>
          </a:p>
        </p:txBody>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559437" y="3334385"/>
            <a:ext cx="17169125" cy="3418204"/>
          </a:xfrm>
          <a:prstGeom prst="rect">
            <a:avLst/>
          </a:prstGeom>
        </p:spPr>
        <p:txBody>
          <a:bodyPr anchor="t" rtlCol="false" tIns="0" lIns="0" bIns="0" rIns="0">
            <a:spAutoFit/>
          </a:bodyPr>
          <a:lstStyle/>
          <a:p>
            <a:pPr algn="ctr">
              <a:lnSpc>
                <a:spcPts val="13720"/>
              </a:lnSpc>
            </a:pPr>
            <a:r>
              <a:rPr lang="en-US" sz="9800">
                <a:solidFill>
                  <a:srgbClr val="333333"/>
                </a:solidFill>
                <a:latin typeface="Special Elite"/>
                <a:ea typeface="Special Elite"/>
                <a:cs typeface="Special Elite"/>
                <a:sym typeface="Special Elite"/>
              </a:rPr>
              <a:t>WHAT WAS THE GENDER GAP IN ARRESTS?</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723559" y="1960512"/>
            <a:ext cx="6811395" cy="7657923"/>
          </a:xfrm>
          <a:custGeom>
            <a:avLst/>
            <a:gdLst/>
            <a:ahLst/>
            <a:cxnLst/>
            <a:rect r="r" b="b" t="t" l="l"/>
            <a:pathLst>
              <a:path h="7657923" w="6811395">
                <a:moveTo>
                  <a:pt x="0" y="0"/>
                </a:moveTo>
                <a:lnTo>
                  <a:pt x="6811395" y="0"/>
                </a:lnTo>
                <a:lnTo>
                  <a:pt x="6811395" y="7657923"/>
                </a:lnTo>
                <a:lnTo>
                  <a:pt x="0" y="7657923"/>
                </a:lnTo>
                <a:lnTo>
                  <a:pt x="0" y="0"/>
                </a:lnTo>
                <a:close/>
              </a:path>
            </a:pathLst>
          </a:custGeom>
          <a:blipFill>
            <a:blip r:embed="rId4"/>
            <a:stretch>
              <a:fillRect l="-9204" t="0" r="-12669" b="0"/>
            </a:stretch>
          </a:blipFill>
          <a:ln w="38100" cap="sq">
            <a:solidFill>
              <a:srgbClr val="000000"/>
            </a:solidFill>
            <a:prstDash val="solid"/>
            <a:miter/>
          </a:ln>
        </p:spPr>
      </p:sp>
      <p:sp>
        <p:nvSpPr>
          <p:cNvPr name="TextBox 6" id="6"/>
          <p:cNvSpPr txBox="true"/>
          <p:nvPr/>
        </p:nvSpPr>
        <p:spPr>
          <a:xfrm rot="0">
            <a:off x="1028700" y="374826"/>
            <a:ext cx="16230600"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ARRESTS BY GENDER</a:t>
            </a:r>
          </a:p>
        </p:txBody>
      </p:sp>
      <p:sp>
        <p:nvSpPr>
          <p:cNvPr name="TextBox 7" id="7"/>
          <p:cNvSpPr txBox="true"/>
          <p:nvPr/>
        </p:nvSpPr>
        <p:spPr>
          <a:xfrm rot="0">
            <a:off x="8293671" y="4070781"/>
            <a:ext cx="8965629" cy="2847975"/>
          </a:xfrm>
          <a:prstGeom prst="rect">
            <a:avLst/>
          </a:prstGeom>
        </p:spPr>
        <p:txBody>
          <a:bodyPr anchor="t" rtlCol="false" tIns="0" lIns="0" bIns="0" rIns="0">
            <a:spAutoFit/>
          </a:bodyPr>
          <a:lstStyle/>
          <a:p>
            <a:pPr algn="l" marL="539753" indent="-269876" lvl="1">
              <a:lnSpc>
                <a:spcPts val="3750"/>
              </a:lnSpc>
              <a:buFont typeface="Arial"/>
              <a:buChar char="•"/>
            </a:pPr>
            <a:r>
              <a:rPr lang="en-US" sz="2500">
                <a:solidFill>
                  <a:srgbClr val="333333"/>
                </a:solidFill>
                <a:latin typeface="Alice"/>
                <a:ea typeface="Alice"/>
                <a:cs typeface="Alice"/>
                <a:sym typeface="Alice"/>
              </a:rPr>
              <a:t>Males dominate arrest statistics, accounting for 128,910 arrests (~83%).</a:t>
            </a:r>
          </a:p>
          <a:p>
            <a:pPr algn="l">
              <a:lnSpc>
                <a:spcPts val="3750"/>
              </a:lnSpc>
            </a:pPr>
          </a:p>
          <a:p>
            <a:pPr algn="l" marL="539753" indent="-269876" lvl="1">
              <a:lnSpc>
                <a:spcPts val="3750"/>
              </a:lnSpc>
              <a:buFont typeface="Arial"/>
              <a:buChar char="•"/>
            </a:pPr>
            <a:r>
              <a:rPr lang="en-US" sz="2500">
                <a:solidFill>
                  <a:srgbClr val="333333"/>
                </a:solidFill>
                <a:latin typeface="Alice"/>
                <a:ea typeface="Alice"/>
                <a:cs typeface="Alice"/>
                <a:sym typeface="Alice"/>
              </a:rPr>
              <a:t>Females make up a much smaller share, with 26,597 arrests (~17%).</a:t>
            </a:r>
          </a:p>
          <a:p>
            <a:pPr algn="l">
              <a:lnSpc>
                <a:spcPts val="3750"/>
              </a:lnSpc>
            </a:pP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559437" y="4201160"/>
            <a:ext cx="17169125" cy="1684654"/>
          </a:xfrm>
          <a:prstGeom prst="rect">
            <a:avLst/>
          </a:prstGeom>
        </p:spPr>
        <p:txBody>
          <a:bodyPr anchor="t" rtlCol="false" tIns="0" lIns="0" bIns="0" rIns="0">
            <a:spAutoFit/>
          </a:bodyPr>
          <a:lstStyle/>
          <a:p>
            <a:pPr algn="ctr">
              <a:lnSpc>
                <a:spcPts val="13720"/>
              </a:lnSpc>
            </a:pPr>
            <a:r>
              <a:rPr lang="en-US" sz="9800">
                <a:solidFill>
                  <a:srgbClr val="333333"/>
                </a:solidFill>
                <a:latin typeface="Special Elite"/>
                <a:ea typeface="Special Elite"/>
                <a:cs typeface="Special Elite"/>
                <a:sym typeface="Special Elite"/>
              </a:rPr>
              <a:t>ADDITIONAL FINDINGS</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137774" y="2032513"/>
            <a:ext cx="12337954" cy="7109746"/>
          </a:xfrm>
          <a:custGeom>
            <a:avLst/>
            <a:gdLst/>
            <a:ahLst/>
            <a:cxnLst/>
            <a:rect r="r" b="b" t="t" l="l"/>
            <a:pathLst>
              <a:path h="7109746" w="12337954">
                <a:moveTo>
                  <a:pt x="0" y="0"/>
                </a:moveTo>
                <a:lnTo>
                  <a:pt x="12337953" y="0"/>
                </a:lnTo>
                <a:lnTo>
                  <a:pt x="12337953" y="7109746"/>
                </a:lnTo>
                <a:lnTo>
                  <a:pt x="0" y="7109746"/>
                </a:lnTo>
                <a:lnTo>
                  <a:pt x="0" y="0"/>
                </a:lnTo>
                <a:close/>
              </a:path>
            </a:pathLst>
          </a:custGeom>
          <a:blipFill>
            <a:blip r:embed="rId2"/>
            <a:stretch>
              <a:fillRect l="0" t="0" r="0" b="0"/>
            </a:stretch>
          </a:blipFill>
          <a:ln w="38100" cap="sq">
            <a:solidFill>
              <a:srgbClr val="000000"/>
            </a:solidFill>
            <a:prstDash val="solid"/>
            <a:miter/>
          </a:ln>
        </p:spPr>
      </p:sp>
      <p:sp>
        <p:nvSpPr>
          <p:cNvPr name="TextBox 3" id="3"/>
          <p:cNvSpPr txBox="true"/>
          <p:nvPr/>
        </p:nvSpPr>
        <p:spPr>
          <a:xfrm rot="0">
            <a:off x="0" y="79375"/>
            <a:ext cx="17811047" cy="1708208"/>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NYPD ARRESTS BY CATEGORY</a:t>
            </a:r>
          </a:p>
        </p:txBody>
      </p:sp>
      <p:sp>
        <p:nvSpPr>
          <p:cNvPr name="TextBox 4" id="4"/>
          <p:cNvSpPr txBox="true"/>
          <p:nvPr/>
        </p:nvSpPr>
        <p:spPr>
          <a:xfrm rot="0">
            <a:off x="12475727" y="2355893"/>
            <a:ext cx="5443798" cy="6415361"/>
          </a:xfrm>
          <a:prstGeom prst="rect">
            <a:avLst/>
          </a:prstGeom>
        </p:spPr>
        <p:txBody>
          <a:bodyPr anchor="t" rtlCol="false" tIns="0" lIns="0" bIns="0" rIns="0">
            <a:spAutoFit/>
          </a:bodyPr>
          <a:lstStyle/>
          <a:p>
            <a:pPr algn="l">
              <a:lnSpc>
                <a:spcPts val="3397"/>
              </a:lnSpc>
            </a:pPr>
          </a:p>
          <a:p>
            <a:pPr algn="l" marL="523933" indent="-261966" lvl="1">
              <a:lnSpc>
                <a:spcPts val="3397"/>
              </a:lnSpc>
              <a:buFont typeface="Arial"/>
              <a:buChar char="•"/>
            </a:pPr>
            <a:r>
              <a:rPr lang="en-US" sz="2426">
                <a:solidFill>
                  <a:srgbClr val="333333"/>
                </a:solidFill>
                <a:latin typeface="Alice"/>
                <a:ea typeface="Alice"/>
                <a:cs typeface="Alice"/>
                <a:sym typeface="Alice"/>
              </a:rPr>
              <a:t>Violent Crimes (55,307) and Property Crimes (54,651) make up the majority of arrests.</a:t>
            </a:r>
          </a:p>
          <a:p>
            <a:pPr algn="l">
              <a:lnSpc>
                <a:spcPts val="3397"/>
              </a:lnSpc>
            </a:pPr>
          </a:p>
          <a:p>
            <a:pPr algn="l" marL="523933" indent="-261966" lvl="1">
              <a:lnSpc>
                <a:spcPts val="3397"/>
              </a:lnSpc>
              <a:buFont typeface="Arial"/>
              <a:buChar char="•"/>
            </a:pPr>
            <a:r>
              <a:rPr lang="en-US" sz="2426">
                <a:solidFill>
                  <a:srgbClr val="333333"/>
                </a:solidFill>
                <a:latin typeface="Alice"/>
                <a:ea typeface="Alice"/>
                <a:cs typeface="Alice"/>
                <a:sym typeface="Alice"/>
              </a:rPr>
              <a:t>Drug/Alcohol offenses (13,559) and Administrative arrests (11,429) are in the middle </a:t>
            </a:r>
          </a:p>
          <a:p>
            <a:pPr algn="l">
              <a:lnSpc>
                <a:spcPts val="3397"/>
              </a:lnSpc>
              <a:spcBef>
                <a:spcPct val="0"/>
              </a:spcBef>
            </a:pPr>
          </a:p>
          <a:p>
            <a:pPr algn="l" marL="523933" indent="-261966" lvl="1">
              <a:lnSpc>
                <a:spcPts val="3397"/>
              </a:lnSpc>
              <a:buFont typeface="Arial"/>
              <a:buChar char="•"/>
            </a:pPr>
            <a:r>
              <a:rPr lang="en-US" sz="2426">
                <a:solidFill>
                  <a:srgbClr val="333333"/>
                </a:solidFill>
                <a:latin typeface="Alice"/>
                <a:ea typeface="Alice"/>
                <a:cs typeface="Alice"/>
                <a:sym typeface="Alice"/>
              </a:rPr>
              <a:t>Weapons/Explosives (7,208), Traffic violations (6,924), and Public Order (5,326) represent the lower portion</a:t>
            </a:r>
          </a:p>
          <a:p>
            <a:pPr algn="l">
              <a:lnSpc>
                <a:spcPts val="3397"/>
              </a:lnSpc>
              <a:spcBef>
                <a:spcPct val="0"/>
              </a:spcBef>
            </a:pPr>
          </a:p>
          <a:p>
            <a:pPr algn="l" marL="523933" indent="-261966" lvl="1">
              <a:lnSpc>
                <a:spcPts val="3397"/>
              </a:lnSpc>
              <a:buFont typeface="Arial"/>
              <a:buChar char="•"/>
            </a:pPr>
            <a:r>
              <a:rPr lang="en-US" sz="2426">
                <a:solidFill>
                  <a:srgbClr val="333333"/>
                </a:solidFill>
                <a:latin typeface="Alice"/>
                <a:ea typeface="Alice"/>
                <a:cs typeface="Alice"/>
                <a:sym typeface="Alice"/>
              </a:rPr>
              <a:t>Unclassified (902) and Obscenity (201) arrests are minimal, and rare</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sp>
        <p:nvSpPr>
          <p:cNvPr name="Freeform 2" id="2"/>
          <p:cNvSpPr/>
          <p:nvPr/>
        </p:nvSpPr>
        <p:spPr>
          <a:xfrm flipH="false" flipV="false" rot="0">
            <a:off x="709118" y="1028700"/>
            <a:ext cx="16422705" cy="9258300"/>
          </a:xfrm>
          <a:custGeom>
            <a:avLst/>
            <a:gdLst/>
            <a:ahLst/>
            <a:cxnLst/>
            <a:rect r="r" b="b" t="t" l="l"/>
            <a:pathLst>
              <a:path h="9258300" w="16422705">
                <a:moveTo>
                  <a:pt x="0" y="0"/>
                </a:moveTo>
                <a:lnTo>
                  <a:pt x="16422705" y="0"/>
                </a:lnTo>
                <a:lnTo>
                  <a:pt x="16422705" y="9258300"/>
                </a:lnTo>
                <a:lnTo>
                  <a:pt x="0" y="9258300"/>
                </a:lnTo>
                <a:lnTo>
                  <a:pt x="0" y="0"/>
                </a:lnTo>
                <a:close/>
              </a:path>
            </a:pathLst>
          </a:custGeom>
          <a:blipFill>
            <a:blip r:embed="rId3"/>
            <a:stretch>
              <a:fillRect l="0" t="0" r="0" b="0"/>
            </a:stretch>
          </a:blipFill>
          <a:ln w="28575" cap="sq">
            <a:solidFill>
              <a:srgbClr val="000000"/>
            </a:solidFill>
            <a:prstDash val="solid"/>
            <a:miter/>
          </a:ln>
        </p:spPr>
      </p:sp>
      <p:sp>
        <p:nvSpPr>
          <p:cNvPr name="TextBox 3" id="3"/>
          <p:cNvSpPr txBox="true"/>
          <p:nvPr/>
        </p:nvSpPr>
        <p:spPr>
          <a:xfrm rot="0">
            <a:off x="-302282" y="-112134"/>
            <a:ext cx="17811047" cy="1410975"/>
          </a:xfrm>
          <a:prstGeom prst="rect">
            <a:avLst/>
          </a:prstGeom>
        </p:spPr>
        <p:txBody>
          <a:bodyPr anchor="t" rtlCol="false" tIns="0" lIns="0" bIns="0" rIns="0">
            <a:spAutoFit/>
          </a:bodyPr>
          <a:lstStyle/>
          <a:p>
            <a:pPr algn="ctr">
              <a:lnSpc>
                <a:spcPts val="11480"/>
              </a:lnSpc>
            </a:pPr>
            <a:r>
              <a:rPr lang="en-US" sz="8200">
                <a:solidFill>
                  <a:srgbClr val="333333"/>
                </a:solidFill>
                <a:latin typeface="Special Elite"/>
                <a:ea typeface="Special Elite"/>
                <a:cs typeface="Special Elite"/>
                <a:sym typeface="Special Elite"/>
              </a:rPr>
              <a:t>ARRESTS BY CRIME, AGE, AND SEX </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3">
                <a:alphaModFix amt="19999"/>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3">
                <a:alphaModFix amt="19999"/>
                <a:extLst>
                  <a:ext uri="{96DAC541-7B7A-43D3-8B79-37D633B846F1}">
                    <asvg:svgBlip xmlns:asvg="http://schemas.microsoft.com/office/drawing/2016/SVG/main" r:embed="rId4"/>
                  </a:ext>
                </a:extLst>
              </a:blip>
              <a:stretch>
                <a:fillRect l="0" t="0" r="0" b="0"/>
              </a:stretch>
            </a:blipFill>
          </p:spPr>
        </p:sp>
      </p:grpSp>
      <p:sp>
        <p:nvSpPr>
          <p:cNvPr name="TextBox 5" id="5"/>
          <p:cNvSpPr txBox="true"/>
          <p:nvPr/>
        </p:nvSpPr>
        <p:spPr>
          <a:xfrm rot="0">
            <a:off x="1028700" y="297706"/>
            <a:ext cx="16230600" cy="1708208"/>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CONCLUSION</a:t>
            </a:r>
          </a:p>
        </p:txBody>
      </p:sp>
      <p:sp>
        <p:nvSpPr>
          <p:cNvPr name="TextBox 6" id="6"/>
          <p:cNvSpPr txBox="true"/>
          <p:nvPr/>
        </p:nvSpPr>
        <p:spPr>
          <a:xfrm rot="0">
            <a:off x="724745" y="2156648"/>
            <a:ext cx="16838511" cy="6488117"/>
          </a:xfrm>
          <a:prstGeom prst="rect">
            <a:avLst/>
          </a:prstGeom>
        </p:spPr>
        <p:txBody>
          <a:bodyPr anchor="t" rtlCol="false" tIns="0" lIns="0" bIns="0" rIns="0">
            <a:spAutoFit/>
          </a:bodyPr>
          <a:lstStyle/>
          <a:p>
            <a:pPr algn="just">
              <a:lnSpc>
                <a:spcPts val="4675"/>
              </a:lnSpc>
            </a:pPr>
            <a:r>
              <a:rPr lang="en-US" sz="3339">
                <a:solidFill>
                  <a:srgbClr val="333333"/>
                </a:solidFill>
                <a:latin typeface="Alice"/>
                <a:ea typeface="Alice"/>
                <a:cs typeface="Alice"/>
                <a:sym typeface="Alice"/>
              </a:rPr>
              <a:t>Based on the analysis on NYC Arrest Data, we can conclude:</a:t>
            </a:r>
          </a:p>
          <a:p>
            <a:pPr algn="just">
              <a:lnSpc>
                <a:spcPts val="4675"/>
              </a:lnSpc>
            </a:pPr>
          </a:p>
          <a:p>
            <a:pPr algn="just" marL="720995" indent="-360498" lvl="1">
              <a:lnSpc>
                <a:spcPts val="4675"/>
              </a:lnSpc>
              <a:buFont typeface="Arial"/>
              <a:buChar char="•"/>
            </a:pPr>
            <a:r>
              <a:rPr lang="en-US" sz="3339">
                <a:solidFill>
                  <a:srgbClr val="333333"/>
                </a:solidFill>
                <a:latin typeface="Alice Bold"/>
                <a:ea typeface="Alice Bold"/>
                <a:cs typeface="Alice Bold"/>
                <a:sym typeface="Alice Bold"/>
              </a:rPr>
              <a:t>Most Arrests: </a:t>
            </a:r>
            <a:r>
              <a:rPr lang="en-US" sz="3339">
                <a:solidFill>
                  <a:srgbClr val="333333"/>
                </a:solidFill>
                <a:latin typeface="Alice"/>
                <a:ea typeface="Alice"/>
                <a:cs typeface="Alice"/>
                <a:sym typeface="Alice"/>
              </a:rPr>
              <a:t>Brooklyn &amp; Manhattan</a:t>
            </a:r>
          </a:p>
          <a:p>
            <a:pPr algn="just">
              <a:lnSpc>
                <a:spcPts val="4675"/>
              </a:lnSpc>
            </a:pPr>
          </a:p>
          <a:p>
            <a:pPr algn="just" marL="720995" indent="-360498" lvl="1">
              <a:lnSpc>
                <a:spcPts val="4675"/>
              </a:lnSpc>
              <a:buFont typeface="Arial"/>
              <a:buChar char="•"/>
            </a:pPr>
            <a:r>
              <a:rPr lang="en-US" sz="3339">
                <a:solidFill>
                  <a:srgbClr val="333333"/>
                </a:solidFill>
                <a:latin typeface="Alice Bold"/>
                <a:ea typeface="Alice Bold"/>
                <a:cs typeface="Alice Bold"/>
                <a:sym typeface="Alice Bold"/>
              </a:rPr>
              <a:t>Likely Demographic:</a:t>
            </a:r>
            <a:r>
              <a:rPr lang="en-US" sz="3339">
                <a:solidFill>
                  <a:srgbClr val="333333"/>
                </a:solidFill>
                <a:latin typeface="Alice"/>
                <a:ea typeface="Alice"/>
                <a:cs typeface="Alice"/>
                <a:sym typeface="Alice"/>
              </a:rPr>
              <a:t> Men within age group of 25-44</a:t>
            </a:r>
          </a:p>
          <a:p>
            <a:pPr algn="just">
              <a:lnSpc>
                <a:spcPts val="4675"/>
              </a:lnSpc>
            </a:pPr>
          </a:p>
          <a:p>
            <a:pPr algn="just" marL="720995" indent="-360498" lvl="1">
              <a:lnSpc>
                <a:spcPts val="4675"/>
              </a:lnSpc>
              <a:buFont typeface="Arial"/>
              <a:buChar char="•"/>
            </a:pPr>
            <a:r>
              <a:rPr lang="en-US" sz="3339">
                <a:solidFill>
                  <a:srgbClr val="333333"/>
                </a:solidFill>
                <a:latin typeface="Alice Bold"/>
                <a:ea typeface="Alice Bold"/>
                <a:cs typeface="Alice Bold"/>
                <a:sym typeface="Alice Bold"/>
              </a:rPr>
              <a:t>Monthly Arrests Trends: </a:t>
            </a:r>
            <a:r>
              <a:rPr lang="en-US" sz="3339">
                <a:solidFill>
                  <a:srgbClr val="333333"/>
                </a:solidFill>
                <a:latin typeface="Alice"/>
                <a:ea typeface="Alice"/>
                <a:cs typeface="Alice"/>
                <a:sym typeface="Alice"/>
              </a:rPr>
              <a:t>Arrests were the lowest in April, but peaked at October</a:t>
            </a:r>
          </a:p>
          <a:p>
            <a:pPr algn="just">
              <a:lnSpc>
                <a:spcPts val="4675"/>
              </a:lnSpc>
            </a:pPr>
            <a:r>
              <a:rPr lang="en-US" sz="3339">
                <a:solidFill>
                  <a:srgbClr val="333333"/>
                </a:solidFill>
                <a:latin typeface="Alice"/>
                <a:ea typeface="Alice"/>
                <a:cs typeface="Alice"/>
                <a:sym typeface="Alice"/>
              </a:rPr>
              <a:t> </a:t>
            </a:r>
          </a:p>
          <a:p>
            <a:pPr algn="just" marL="720995" indent="-360498" lvl="1">
              <a:lnSpc>
                <a:spcPts val="4675"/>
              </a:lnSpc>
              <a:buFont typeface="Arial"/>
              <a:buChar char="•"/>
            </a:pPr>
            <a:r>
              <a:rPr lang="en-US" sz="3339">
                <a:solidFill>
                  <a:srgbClr val="333333"/>
                </a:solidFill>
                <a:latin typeface="Alice Bold"/>
                <a:ea typeface="Alice Bold"/>
                <a:cs typeface="Alice Bold"/>
                <a:sym typeface="Alice Bold"/>
              </a:rPr>
              <a:t>COVID Influence: </a:t>
            </a:r>
            <a:r>
              <a:rPr lang="en-US" sz="3339">
                <a:solidFill>
                  <a:srgbClr val="333333"/>
                </a:solidFill>
                <a:latin typeface="Alice"/>
                <a:ea typeface="Alice"/>
                <a:cs typeface="Alice"/>
                <a:sym typeface="Alice"/>
              </a:rPr>
              <a:t>The steady rise in arrests after April was similar to the rise in COVID-19 cases after restrictions were lifted. </a:t>
            </a:r>
          </a:p>
          <a:p>
            <a:pPr algn="just">
              <a:lnSpc>
                <a:spcPts val="4675"/>
              </a:lnSpc>
            </a:pP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839341"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7259300" y="9324716"/>
            <a:ext cx="962284" cy="962284"/>
          </a:xfrm>
          <a:custGeom>
            <a:avLst/>
            <a:gdLst/>
            <a:ahLst/>
            <a:cxnLst/>
            <a:rect r="r" b="b" t="t" l="l"/>
            <a:pathLst>
              <a:path h="962284" w="962284">
                <a:moveTo>
                  <a:pt x="0" y="0"/>
                </a:moveTo>
                <a:lnTo>
                  <a:pt x="962284" y="0"/>
                </a:lnTo>
                <a:lnTo>
                  <a:pt x="962284" y="962284"/>
                </a:lnTo>
                <a:lnTo>
                  <a:pt x="0" y="962284"/>
                </a:lnTo>
                <a:lnTo>
                  <a:pt x="0" y="0"/>
                </a:lnTo>
                <a:close/>
              </a:path>
            </a:pathLst>
          </a:custGeom>
          <a:blipFill>
            <a:blip r:embed="rId4"/>
            <a:stretch>
              <a:fillRect l="0" t="0" r="0" b="0"/>
            </a:stretch>
          </a:blipFill>
        </p:spPr>
      </p:sp>
      <p:sp>
        <p:nvSpPr>
          <p:cNvPr name="Freeform 6" id="6"/>
          <p:cNvSpPr/>
          <p:nvPr/>
        </p:nvSpPr>
        <p:spPr>
          <a:xfrm flipH="false" flipV="false" rot="0">
            <a:off x="-187476" y="9525827"/>
            <a:ext cx="3062473" cy="836741"/>
          </a:xfrm>
          <a:custGeom>
            <a:avLst/>
            <a:gdLst/>
            <a:ahLst/>
            <a:cxnLst/>
            <a:rect r="r" b="b" t="t" l="l"/>
            <a:pathLst>
              <a:path h="836741" w="3062473">
                <a:moveTo>
                  <a:pt x="0" y="0"/>
                </a:moveTo>
                <a:lnTo>
                  <a:pt x="3062473" y="0"/>
                </a:lnTo>
                <a:lnTo>
                  <a:pt x="3062473" y="836741"/>
                </a:lnTo>
                <a:lnTo>
                  <a:pt x="0" y="836741"/>
                </a:lnTo>
                <a:lnTo>
                  <a:pt x="0" y="0"/>
                </a:lnTo>
                <a:close/>
              </a:path>
            </a:pathLst>
          </a:custGeom>
          <a:blipFill>
            <a:blip r:embed="rId5"/>
            <a:stretch>
              <a:fillRect l="0" t="0" r="0" b="0"/>
            </a:stretch>
          </a:blipFill>
        </p:spPr>
      </p:sp>
      <p:sp>
        <p:nvSpPr>
          <p:cNvPr name="TextBox 7" id="7"/>
          <p:cNvSpPr txBox="true"/>
          <p:nvPr/>
        </p:nvSpPr>
        <p:spPr>
          <a:xfrm rot="0">
            <a:off x="2660200" y="656586"/>
            <a:ext cx="12967601" cy="829953"/>
          </a:xfrm>
          <a:prstGeom prst="rect">
            <a:avLst/>
          </a:prstGeom>
        </p:spPr>
        <p:txBody>
          <a:bodyPr anchor="t" rtlCol="false" tIns="0" lIns="0" bIns="0" rIns="0">
            <a:spAutoFit/>
          </a:bodyPr>
          <a:lstStyle/>
          <a:p>
            <a:pPr algn="ctr">
              <a:lnSpc>
                <a:spcPts val="6370"/>
              </a:lnSpc>
            </a:pPr>
            <a:r>
              <a:rPr lang="en-US" sz="6067">
                <a:solidFill>
                  <a:srgbClr val="333333"/>
                </a:solidFill>
                <a:latin typeface="Special Elite"/>
                <a:ea typeface="Special Elite"/>
                <a:cs typeface="Special Elite"/>
                <a:sym typeface="Special Elite"/>
              </a:rPr>
              <a:t>CONCLUSION: CALL TO ACTION</a:t>
            </a:r>
          </a:p>
        </p:txBody>
      </p:sp>
      <p:sp>
        <p:nvSpPr>
          <p:cNvPr name="TextBox 8" id="8"/>
          <p:cNvSpPr txBox="true"/>
          <p:nvPr/>
        </p:nvSpPr>
        <p:spPr>
          <a:xfrm rot="0">
            <a:off x="1028700" y="1703016"/>
            <a:ext cx="16230600" cy="7291681"/>
          </a:xfrm>
          <a:prstGeom prst="rect">
            <a:avLst/>
          </a:prstGeom>
        </p:spPr>
        <p:txBody>
          <a:bodyPr anchor="t" rtlCol="false" tIns="0" lIns="0" bIns="0" rIns="0">
            <a:spAutoFit/>
          </a:bodyPr>
          <a:lstStyle/>
          <a:p>
            <a:pPr algn="l" marL="690881" indent="-345440" lvl="1">
              <a:lnSpc>
                <a:spcPts val="4480"/>
              </a:lnSpc>
              <a:buFont typeface="Arial"/>
              <a:buChar char="•"/>
            </a:pPr>
            <a:r>
              <a:rPr lang="en-US" sz="3200">
                <a:solidFill>
                  <a:srgbClr val="333333"/>
                </a:solidFill>
                <a:latin typeface="Alice Bold"/>
                <a:ea typeface="Alice Bold"/>
                <a:cs typeface="Alice Bold"/>
                <a:sym typeface="Alice Bold"/>
              </a:rPr>
              <a:t>Balance Enforcement: </a:t>
            </a:r>
            <a:r>
              <a:rPr lang="en-US" sz="3200">
                <a:solidFill>
                  <a:srgbClr val="333333"/>
                </a:solidFill>
                <a:latin typeface="Alice"/>
                <a:ea typeface="Alice"/>
                <a:cs typeface="Alice"/>
                <a:sym typeface="Alice"/>
              </a:rPr>
              <a:t>Have more NYPD officers deployed in Manhattan and Brooklyn due to higher crime occurrences within the large city area. </a:t>
            </a:r>
          </a:p>
          <a:p>
            <a:pPr algn="l">
              <a:lnSpc>
                <a:spcPts val="4480"/>
              </a:lnSpc>
            </a:pPr>
          </a:p>
          <a:p>
            <a:pPr algn="l" marL="690881" indent="-345440" lvl="1">
              <a:lnSpc>
                <a:spcPts val="4480"/>
              </a:lnSpc>
              <a:buFont typeface="Arial"/>
              <a:buChar char="•"/>
            </a:pPr>
            <a:r>
              <a:rPr lang="en-US" sz="3200">
                <a:solidFill>
                  <a:srgbClr val="333333"/>
                </a:solidFill>
                <a:latin typeface="Alice Bold"/>
                <a:ea typeface="Alice Bold"/>
                <a:cs typeface="Alice Bold"/>
                <a:sym typeface="Alice Bold"/>
              </a:rPr>
              <a:t>Support the 25–44 </a:t>
            </a:r>
            <a:r>
              <a:rPr lang="en-US" sz="3200">
                <a:solidFill>
                  <a:srgbClr val="333333"/>
                </a:solidFill>
                <a:latin typeface="Alice Bold"/>
                <a:ea typeface="Alice Bold"/>
                <a:cs typeface="Alice Bold"/>
                <a:sym typeface="Alice Bold"/>
              </a:rPr>
              <a:t>Age Group:</a:t>
            </a:r>
            <a:r>
              <a:rPr lang="en-US" sz="3200">
                <a:solidFill>
                  <a:srgbClr val="333333"/>
                </a:solidFill>
                <a:latin typeface="Alice"/>
                <a:ea typeface="Alice"/>
                <a:cs typeface="Alice"/>
                <a:sym typeface="Alice"/>
              </a:rPr>
              <a:t> Provide mental health services, job training, and rehabilitation centers.</a:t>
            </a:r>
          </a:p>
          <a:p>
            <a:pPr algn="l">
              <a:lnSpc>
                <a:spcPts val="4480"/>
              </a:lnSpc>
            </a:pPr>
          </a:p>
          <a:p>
            <a:pPr algn="l" marL="690881" indent="-345440" lvl="1">
              <a:lnSpc>
                <a:spcPts val="4480"/>
              </a:lnSpc>
              <a:buFont typeface="Arial"/>
              <a:buChar char="•"/>
            </a:pPr>
            <a:r>
              <a:rPr lang="en-US" sz="3200">
                <a:solidFill>
                  <a:srgbClr val="333333"/>
                </a:solidFill>
                <a:latin typeface="Alice Bold"/>
                <a:ea typeface="Alice Bold"/>
                <a:cs typeface="Alice Bold"/>
                <a:sym typeface="Alice Bold"/>
              </a:rPr>
              <a:t>Seasonal Crime Prevention: </a:t>
            </a:r>
            <a:r>
              <a:rPr lang="en-US" sz="3200">
                <a:solidFill>
                  <a:srgbClr val="333333"/>
                </a:solidFill>
                <a:latin typeface="Alice"/>
                <a:ea typeface="Alice"/>
                <a:cs typeface="Alice"/>
                <a:sym typeface="Alice"/>
              </a:rPr>
              <a:t>Arrests are high during Summer and Fall, therefore we should strengthen community policing, youth engagement, and outreach efforts during these times. </a:t>
            </a:r>
          </a:p>
          <a:p>
            <a:pPr algn="l">
              <a:lnSpc>
                <a:spcPts val="4480"/>
              </a:lnSpc>
            </a:pPr>
          </a:p>
          <a:p>
            <a:pPr algn="l" marL="690881" indent="-345440" lvl="1">
              <a:lnSpc>
                <a:spcPts val="4480"/>
              </a:lnSpc>
              <a:buFont typeface="Arial"/>
              <a:buChar char="•"/>
            </a:pPr>
            <a:r>
              <a:rPr lang="en-US" sz="3200">
                <a:solidFill>
                  <a:srgbClr val="333333"/>
                </a:solidFill>
                <a:latin typeface="Alice Bold"/>
                <a:ea typeface="Alice Bold"/>
                <a:cs typeface="Alice Bold"/>
                <a:sym typeface="Alice Bold"/>
              </a:rPr>
              <a:t>Gender-Responsive Programs: </a:t>
            </a:r>
            <a:r>
              <a:rPr lang="en-US" sz="3200">
                <a:solidFill>
                  <a:srgbClr val="333333"/>
                </a:solidFill>
                <a:latin typeface="Alice"/>
                <a:ea typeface="Alice"/>
                <a:cs typeface="Alice"/>
                <a:sym typeface="Alice"/>
              </a:rPr>
              <a:t>Since men ages 25-44 are arrested most for violent crimes and property crimes, we should expand mentorship opportunities, support groups, rehabilitation, and violence-prevention initiatives tailored for young men.</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TextBox 5" id="5"/>
          <p:cNvSpPr txBox="true"/>
          <p:nvPr/>
        </p:nvSpPr>
        <p:spPr>
          <a:xfrm rot="0">
            <a:off x="2972349" y="987395"/>
            <a:ext cx="12343302" cy="1708151"/>
          </a:xfrm>
          <a:prstGeom prst="rect">
            <a:avLst/>
          </a:prstGeom>
        </p:spPr>
        <p:txBody>
          <a:bodyPr anchor="t" rtlCol="false" tIns="0" lIns="0" bIns="0" rIns="0">
            <a:spAutoFit/>
          </a:bodyPr>
          <a:lstStyle/>
          <a:p>
            <a:pPr algn="ctr">
              <a:lnSpc>
                <a:spcPts val="13999"/>
              </a:lnSpc>
            </a:pPr>
            <a:r>
              <a:rPr lang="en-US" sz="9999">
                <a:solidFill>
                  <a:srgbClr val="333333"/>
                </a:solidFill>
                <a:latin typeface="Special Elite"/>
                <a:ea typeface="Special Elite"/>
                <a:cs typeface="Special Elite"/>
                <a:sym typeface="Special Elite"/>
              </a:rPr>
              <a:t>RESOURCE PAGE</a:t>
            </a:r>
          </a:p>
        </p:txBody>
      </p:sp>
      <p:sp>
        <p:nvSpPr>
          <p:cNvPr name="TextBox 6" id="6"/>
          <p:cNvSpPr txBox="true"/>
          <p:nvPr/>
        </p:nvSpPr>
        <p:spPr>
          <a:xfrm rot="0">
            <a:off x="6645635" y="3157160"/>
            <a:ext cx="4996730" cy="712409"/>
          </a:xfrm>
          <a:prstGeom prst="rect">
            <a:avLst/>
          </a:prstGeom>
        </p:spPr>
        <p:txBody>
          <a:bodyPr anchor="t" rtlCol="false" tIns="0" lIns="0" bIns="0" rIns="0">
            <a:spAutoFit/>
          </a:bodyPr>
          <a:lstStyle/>
          <a:p>
            <a:pPr algn="ctr" marL="906775" indent="-453388" lvl="1">
              <a:lnSpc>
                <a:spcPts val="5879"/>
              </a:lnSpc>
              <a:buFont typeface="Arial"/>
              <a:buChar char="•"/>
            </a:pPr>
            <a:r>
              <a:rPr lang="en-US" sz="4199" u="sng">
                <a:solidFill>
                  <a:srgbClr val="5170FF"/>
                </a:solidFill>
                <a:latin typeface="Canva Sans"/>
                <a:ea typeface="Canva Sans"/>
                <a:cs typeface="Canva Sans"/>
                <a:sym typeface="Canva Sans"/>
                <a:hlinkClick r:id="rId4" tooltip="https://data.cityofnewyork.us/Public-Safety/NYPD-Arrest-Data-Year-to-Date-/uip8-fykc/about_data"/>
              </a:rPr>
              <a:t>NYC Open Data</a:t>
            </a:r>
            <a:r>
              <a:rPr lang="en-US" sz="4199">
                <a:solidFill>
                  <a:srgbClr val="5170FF"/>
                </a:solidFill>
                <a:latin typeface="Canva Sans"/>
                <a:ea typeface="Canva Sans"/>
                <a:cs typeface="Canva Sans"/>
                <a:sym typeface="Canva Sans"/>
                <a:hlinkClick r:id="rId5" tooltip="https://data.cityofnewyork.us/Public-Safety/NYPD-Arrest-Data-Year-to-Date-/uip8-fykc/about_data"/>
              </a:rPr>
              <a:t> </a:t>
            </a:r>
          </a:p>
        </p:txBody>
      </p:sp>
      <p:sp>
        <p:nvSpPr>
          <p:cNvPr name="TextBox 7" id="7"/>
          <p:cNvSpPr txBox="true"/>
          <p:nvPr/>
        </p:nvSpPr>
        <p:spPr>
          <a:xfrm rot="0">
            <a:off x="6728603" y="4308446"/>
            <a:ext cx="4830794" cy="712409"/>
          </a:xfrm>
          <a:prstGeom prst="rect">
            <a:avLst/>
          </a:prstGeom>
        </p:spPr>
        <p:txBody>
          <a:bodyPr anchor="t" rtlCol="false" tIns="0" lIns="0" bIns="0" rIns="0">
            <a:spAutoFit/>
          </a:bodyPr>
          <a:lstStyle/>
          <a:p>
            <a:pPr algn="ctr" marL="906775" indent="-453388" lvl="1">
              <a:lnSpc>
                <a:spcPts val="5879"/>
              </a:lnSpc>
              <a:buFont typeface="Arial"/>
              <a:buChar char="•"/>
            </a:pPr>
            <a:r>
              <a:rPr lang="en-US" sz="4199" u="sng">
                <a:solidFill>
                  <a:srgbClr val="5170FF"/>
                </a:solidFill>
                <a:latin typeface="Canva Sans"/>
                <a:ea typeface="Canva Sans"/>
                <a:cs typeface="Canva Sans"/>
                <a:sym typeface="Canva Sans"/>
                <a:hlinkClick r:id="rId6" tooltip="https://catalog.data.gov/dataset/covid-19-case-surveillance-public-use-data-with-geography-0605b"/>
              </a:rPr>
              <a:t>COVID 19 DATA</a:t>
            </a:r>
          </a:p>
        </p:txBody>
      </p:sp>
      <p:sp>
        <p:nvSpPr>
          <p:cNvPr name="TextBox 8" id="8"/>
          <p:cNvSpPr txBox="true"/>
          <p:nvPr/>
        </p:nvSpPr>
        <p:spPr>
          <a:xfrm rot="0">
            <a:off x="6728603" y="5430430"/>
            <a:ext cx="4673334" cy="863563"/>
          </a:xfrm>
          <a:prstGeom prst="rect">
            <a:avLst/>
          </a:prstGeom>
        </p:spPr>
        <p:txBody>
          <a:bodyPr anchor="t" rtlCol="false" tIns="0" lIns="0" bIns="0" rIns="0">
            <a:spAutoFit/>
          </a:bodyPr>
          <a:lstStyle/>
          <a:p>
            <a:pPr algn="ctr" marL="1079504" indent="-539752" lvl="1">
              <a:lnSpc>
                <a:spcPts val="7000"/>
              </a:lnSpc>
              <a:buFont typeface="Arial"/>
              <a:buChar char="•"/>
            </a:pPr>
            <a:r>
              <a:rPr lang="en-US" sz="5000" u="sng">
                <a:solidFill>
                  <a:srgbClr val="5170FF"/>
                </a:solidFill>
                <a:latin typeface="Canva Sans"/>
                <a:ea typeface="Canva Sans"/>
                <a:cs typeface="Canva Sans"/>
                <a:sym typeface="Canva Sans"/>
                <a:hlinkClick r:id="rId7" tooltip="https://docs.google.com/document/d/1fL4kt8nghsStS8vJGy-0oY4_jUzhZOG4DNJbAGIOMg0/edit?usp=sharing"/>
              </a:rPr>
              <a:t>ONE PAGER</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bg>
      <p:bgPr>
        <a:solidFill>
          <a:srgbClr val="F3F3F3"/>
        </a:solidFill>
      </p:bgPr>
    </p:bg>
    <p:spTree>
      <p:nvGrpSpPr>
        <p:cNvPr id="1" name=""/>
        <p:cNvGrpSpPr/>
        <p:nvPr/>
      </p:nvGrpSpPr>
      <p:grpSpPr>
        <a:xfrm>
          <a:off x="0" y="0"/>
          <a:ext cx="0" cy="0"/>
          <a:chOff x="0" y="0"/>
          <a:chExt cx="0" cy="0"/>
        </a:xfrm>
      </p:grpSpPr>
      <p:grpSp>
        <p:nvGrpSpPr>
          <p:cNvPr name="Group 2" id="2"/>
          <p:cNvGrpSpPr/>
          <p:nvPr/>
        </p:nvGrpSpPr>
        <p:grpSpPr>
          <a:xfrm rot="0">
            <a:off x="-1698652" y="-277826"/>
            <a:ext cx="21685304" cy="10842652"/>
            <a:chOff x="0" y="0"/>
            <a:chExt cx="28913738" cy="14456869"/>
          </a:xfrm>
        </p:grpSpPr>
        <p:sp>
          <p:nvSpPr>
            <p:cNvPr name="Freeform 3" id="3"/>
            <p:cNvSpPr/>
            <p:nvPr/>
          </p:nvSpPr>
          <p:spPr>
            <a:xfrm flipH="false" flipV="false" rot="0">
              <a:off x="0"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14456869" y="0"/>
              <a:ext cx="14456869" cy="14456869"/>
            </a:xfrm>
            <a:custGeom>
              <a:avLst/>
              <a:gdLst/>
              <a:ahLst/>
              <a:cxnLst/>
              <a:rect r="r" b="b" t="t" l="l"/>
              <a:pathLst>
                <a:path h="14456869" w="14456869">
                  <a:moveTo>
                    <a:pt x="0" y="0"/>
                  </a:moveTo>
                  <a:lnTo>
                    <a:pt x="14456869" y="0"/>
                  </a:lnTo>
                  <a:lnTo>
                    <a:pt x="14456869" y="14456869"/>
                  </a:lnTo>
                  <a:lnTo>
                    <a:pt x="0" y="14456869"/>
                  </a:lnTo>
                  <a:lnTo>
                    <a:pt x="0" y="0"/>
                  </a:lnTo>
                  <a:close/>
                </a:path>
              </a:pathLst>
            </a:custGeom>
            <a:blipFill>
              <a:blip r:embed="rId2">
                <a:alphaModFix amt="19999"/>
                <a:extLst>
                  <a:ext uri="{96DAC541-7B7A-43D3-8B79-37D633B846F1}">
                    <asvg:svgBlip xmlns:asvg="http://schemas.microsoft.com/office/drawing/2016/SVG/main" r:embed="rId3"/>
                  </a:ext>
                </a:extLst>
              </a:blip>
              <a:stretch>
                <a:fillRect l="0" t="0" r="0" b="0"/>
              </a:stretch>
            </a:blipFill>
          </p:spPr>
        </p:sp>
      </p:grpSp>
      <p:sp>
        <p:nvSpPr>
          <p:cNvPr name="Freeform 5" id="5"/>
          <p:cNvSpPr/>
          <p:nvPr/>
        </p:nvSpPr>
        <p:spPr>
          <a:xfrm flipH="false" flipV="false" rot="0">
            <a:off x="-187476" y="9525827"/>
            <a:ext cx="3062473" cy="836741"/>
          </a:xfrm>
          <a:custGeom>
            <a:avLst/>
            <a:gdLst/>
            <a:ahLst/>
            <a:cxnLst/>
            <a:rect r="r" b="b" t="t" l="l"/>
            <a:pathLst>
              <a:path h="836741" w="3062473">
                <a:moveTo>
                  <a:pt x="0" y="0"/>
                </a:moveTo>
                <a:lnTo>
                  <a:pt x="3062473" y="0"/>
                </a:lnTo>
                <a:lnTo>
                  <a:pt x="3062473" y="836741"/>
                </a:lnTo>
                <a:lnTo>
                  <a:pt x="0" y="836741"/>
                </a:lnTo>
                <a:lnTo>
                  <a:pt x="0" y="0"/>
                </a:lnTo>
                <a:close/>
              </a:path>
            </a:pathLst>
          </a:custGeom>
          <a:blipFill>
            <a:blip r:embed="rId4"/>
            <a:stretch>
              <a:fillRect l="0" t="0" r="0" b="0"/>
            </a:stretch>
          </a:blipFill>
        </p:spPr>
      </p:sp>
      <p:sp>
        <p:nvSpPr>
          <p:cNvPr name="Freeform 6" id="6"/>
          <p:cNvSpPr/>
          <p:nvPr/>
        </p:nvSpPr>
        <p:spPr>
          <a:xfrm flipH="false" flipV="false" rot="0">
            <a:off x="12807572" y="6894721"/>
            <a:ext cx="5778062" cy="5778062"/>
          </a:xfrm>
          <a:custGeom>
            <a:avLst/>
            <a:gdLst/>
            <a:ahLst/>
            <a:cxnLst/>
            <a:rect r="r" b="b" t="t" l="l"/>
            <a:pathLst>
              <a:path h="5778062" w="5778062">
                <a:moveTo>
                  <a:pt x="0" y="0"/>
                </a:moveTo>
                <a:lnTo>
                  <a:pt x="5778063" y="0"/>
                </a:lnTo>
                <a:lnTo>
                  <a:pt x="5778063" y="5778063"/>
                </a:lnTo>
                <a:lnTo>
                  <a:pt x="0" y="5778063"/>
                </a:lnTo>
                <a:lnTo>
                  <a:pt x="0" y="0"/>
                </a:lnTo>
                <a:close/>
              </a:path>
            </a:pathLst>
          </a:custGeom>
          <a:blipFill>
            <a:blip r:embed="rId5"/>
            <a:stretch>
              <a:fillRect l="0" t="0" r="0" b="0"/>
            </a:stretch>
          </a:blipFill>
        </p:spPr>
      </p:sp>
      <p:sp>
        <p:nvSpPr>
          <p:cNvPr name="TextBox 7" id="7"/>
          <p:cNvSpPr txBox="true"/>
          <p:nvPr/>
        </p:nvSpPr>
        <p:spPr>
          <a:xfrm rot="0">
            <a:off x="1558616" y="4445067"/>
            <a:ext cx="15170769" cy="2088839"/>
          </a:xfrm>
          <a:prstGeom prst="rect">
            <a:avLst/>
          </a:prstGeom>
        </p:spPr>
        <p:txBody>
          <a:bodyPr anchor="t" rtlCol="false" tIns="0" lIns="0" bIns="0" rIns="0">
            <a:spAutoFit/>
          </a:bodyPr>
          <a:lstStyle/>
          <a:p>
            <a:pPr algn="ctr">
              <a:lnSpc>
                <a:spcPts val="15882"/>
              </a:lnSpc>
            </a:pPr>
            <a:r>
              <a:rPr lang="en-US" sz="15271">
                <a:solidFill>
                  <a:srgbClr val="333333"/>
                </a:solidFill>
                <a:latin typeface="Special Elite"/>
                <a:ea typeface="Special Elite"/>
                <a:cs typeface="Special Elite"/>
                <a:sym typeface="Special Elite"/>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DAGz5efupw8</dc:identifier>
  <dcterms:modified xsi:type="dcterms:W3CDTF">2011-08-01T06:04:30Z</dcterms:modified>
  <cp:revision>1</cp:revision>
  <dc:title>NYPD Arrest</dc:title>
</cp:coreProperties>
</file>